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6"/>
  </p:notesMasterIdLst>
  <p:sldIdLst>
    <p:sldId id="258" r:id="rId5"/>
    <p:sldId id="279" r:id="rId6"/>
    <p:sldId id="456" r:id="rId7"/>
    <p:sldId id="272" r:id="rId8"/>
    <p:sldId id="285" r:id="rId9"/>
    <p:sldId id="458" r:id="rId10"/>
    <p:sldId id="462" r:id="rId11"/>
    <p:sldId id="464" r:id="rId12"/>
    <p:sldId id="463" r:id="rId13"/>
    <p:sldId id="465" r:id="rId14"/>
    <p:sldId id="481" r:id="rId15"/>
    <p:sldId id="482" r:id="rId16"/>
    <p:sldId id="483" r:id="rId17"/>
    <p:sldId id="484" r:id="rId18"/>
    <p:sldId id="459" r:id="rId19"/>
    <p:sldId id="485" r:id="rId20"/>
    <p:sldId id="486" r:id="rId21"/>
    <p:sldId id="488" r:id="rId22"/>
    <p:sldId id="489" r:id="rId23"/>
    <p:sldId id="490" r:id="rId24"/>
    <p:sldId id="4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1F078-78C8-4EEB-819A-89EF772DAD4D}" v="5" dt="2026-03-16T17:44:49.7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694" autoAdjust="0"/>
  </p:normalViewPr>
  <p:slideViewPr>
    <p:cSldViewPr snapToGrid="0">
      <p:cViewPr varScale="1">
        <p:scale>
          <a:sx n="41" d="100"/>
          <a:sy n="41" d="100"/>
        </p:scale>
        <p:origin x="31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lle van Barneveld" userId="bc7ecfdf-3719-43bf-9ebf-4e7030cd4705" providerId="ADAL" clId="{8FBCD94A-1B0B-4C78-B10A-8D7F43414B78}"/>
    <pc:docChg chg="undo redo custSel addSld delSld modSld sldOrd">
      <pc:chgData name="Jelle van Barneveld" userId="bc7ecfdf-3719-43bf-9ebf-4e7030cd4705" providerId="ADAL" clId="{8FBCD94A-1B0B-4C78-B10A-8D7F43414B78}" dt="2026-03-16T17:44:50.508" v="9562" actId="20577"/>
      <pc:docMkLst>
        <pc:docMk/>
      </pc:docMkLst>
      <pc:sldChg chg="addSp delSp modSp mod">
        <pc:chgData name="Jelle van Barneveld" userId="bc7ecfdf-3719-43bf-9ebf-4e7030cd4705" providerId="ADAL" clId="{8FBCD94A-1B0B-4C78-B10A-8D7F43414B78}" dt="2026-03-04T10:14:41.193" v="7394" actId="14100"/>
        <pc:sldMkLst>
          <pc:docMk/>
          <pc:sldMk cId="2580601958" sldId="258"/>
        </pc:sldMkLst>
        <pc:spChg chg="mod">
          <ac:chgData name="Jelle van Barneveld" userId="bc7ecfdf-3719-43bf-9ebf-4e7030cd4705" providerId="ADAL" clId="{8FBCD94A-1B0B-4C78-B10A-8D7F43414B78}" dt="2026-03-04T10:13:48.958" v="7389" actId="20577"/>
          <ac:spMkLst>
            <pc:docMk/>
            <pc:sldMk cId="2580601958" sldId="258"/>
            <ac:spMk id="7" creationId="{BAAD41C4-AB8B-603C-1D5D-873690001E0D}"/>
          </ac:spMkLst>
        </pc:spChg>
        <pc:picChg chg="add mod">
          <ac:chgData name="Jelle van Barneveld" userId="bc7ecfdf-3719-43bf-9ebf-4e7030cd4705" providerId="ADAL" clId="{8FBCD94A-1B0B-4C78-B10A-8D7F43414B78}" dt="2026-03-04T10:14:41.193" v="7394" actId="14100"/>
          <ac:picMkLst>
            <pc:docMk/>
            <pc:sldMk cId="2580601958" sldId="258"/>
            <ac:picMk id="1026" creationId="{0966C41A-C1D2-C726-65F2-FFD672A5FF0B}"/>
          </ac:picMkLst>
        </pc:picChg>
      </pc:sldChg>
      <pc:sldChg chg="addSp modSp add mod ord modNotesTx">
        <pc:chgData name="Jelle van Barneveld" userId="bc7ecfdf-3719-43bf-9ebf-4e7030cd4705" providerId="ADAL" clId="{8FBCD94A-1B0B-4C78-B10A-8D7F43414B78}" dt="2026-03-16T17:44:50.508" v="9562" actId="20577"/>
        <pc:sldMkLst>
          <pc:docMk/>
          <pc:sldMk cId="1621250331" sldId="272"/>
        </pc:sldMkLst>
      </pc:sldChg>
      <pc:sldChg chg="addSp delSp modSp add del mod">
        <pc:chgData name="Jelle van Barneveld" userId="bc7ecfdf-3719-43bf-9ebf-4e7030cd4705" providerId="ADAL" clId="{8FBCD94A-1B0B-4C78-B10A-8D7F43414B78}" dt="2026-03-03T16:01:25.154" v="7365" actId="47"/>
        <pc:sldMkLst>
          <pc:docMk/>
          <pc:sldMk cId="2564587758" sldId="458"/>
        </pc:sldMkLst>
      </pc:sldChg>
      <pc:sldChg chg="modNotesTx">
        <pc:chgData name="Jelle van Barneveld" userId="bc7ecfdf-3719-43bf-9ebf-4e7030cd4705" providerId="ADAL" clId="{8FBCD94A-1B0B-4C78-B10A-8D7F43414B78}" dt="2026-03-16T17:43:48.663" v="9539" actId="6549"/>
        <pc:sldMkLst>
          <pc:docMk/>
          <pc:sldMk cId="251457636" sldId="459"/>
        </pc:sldMkLst>
      </pc:sldChg>
      <pc:sldChg chg="addSp delSp modSp add mod ord">
        <pc:chgData name="Jelle van Barneveld" userId="bc7ecfdf-3719-43bf-9ebf-4e7030cd4705" providerId="ADAL" clId="{8FBCD94A-1B0B-4C78-B10A-8D7F43414B78}" dt="2026-03-04T10:17:01.853" v="7432" actId="20577"/>
        <pc:sldMkLst>
          <pc:docMk/>
          <pc:sldMk cId="3640111499" sldId="484"/>
        </pc:sldMkLst>
        <pc:spChg chg="add mod">
          <ac:chgData name="Jelle van Barneveld" userId="bc7ecfdf-3719-43bf-9ebf-4e7030cd4705" providerId="ADAL" clId="{8FBCD94A-1B0B-4C78-B10A-8D7F43414B78}" dt="2026-03-04T10:17:01.853" v="7432" actId="20577"/>
          <ac:spMkLst>
            <pc:docMk/>
            <pc:sldMk cId="3640111499" sldId="484"/>
            <ac:spMk id="9" creationId="{358C9082-9243-854F-4877-319CCCEC33D6}"/>
          </ac:spMkLst>
        </pc:spChg>
      </pc:sldChg>
      <pc:sldChg chg="addSp delSp modSp add mod modTransition modNotesTx">
        <pc:chgData name="Jelle van Barneveld" userId="bc7ecfdf-3719-43bf-9ebf-4e7030cd4705" providerId="ADAL" clId="{8FBCD94A-1B0B-4C78-B10A-8D7F43414B78}" dt="2026-03-16T17:44:02.490" v="9540" actId="20577"/>
        <pc:sldMkLst>
          <pc:docMk/>
          <pc:sldMk cId="1753016335" sldId="485"/>
        </pc:sldMkLst>
      </pc:sldChg>
      <pc:sldChg chg="addSp delSp modSp add mod modTransition modNotesTx">
        <pc:chgData name="Jelle van Barneveld" userId="bc7ecfdf-3719-43bf-9ebf-4e7030cd4705" providerId="ADAL" clId="{8FBCD94A-1B0B-4C78-B10A-8D7F43414B78}" dt="2026-03-16T17:44:13.198" v="9541" actId="20577"/>
        <pc:sldMkLst>
          <pc:docMk/>
          <pc:sldMk cId="2151614007" sldId="486"/>
        </pc:sldMkLst>
        <pc:spChg chg="mod">
          <ac:chgData name="Jelle van Barneveld" userId="bc7ecfdf-3719-43bf-9ebf-4e7030cd4705" providerId="ADAL" clId="{8FBCD94A-1B0B-4C78-B10A-8D7F43414B78}" dt="2026-03-04T10:33:42.445" v="7758" actId="20577"/>
          <ac:spMkLst>
            <pc:docMk/>
            <pc:sldMk cId="2151614007" sldId="486"/>
            <ac:spMk id="7" creationId="{D3FBDDB4-F69A-FF69-7DD7-C152DE81B96E}"/>
          </ac:spMkLst>
        </pc:spChg>
        <pc:spChg chg="add mod">
          <ac:chgData name="Jelle van Barneveld" userId="bc7ecfdf-3719-43bf-9ebf-4e7030cd4705" providerId="ADAL" clId="{8FBCD94A-1B0B-4C78-B10A-8D7F43414B78}" dt="2026-03-04T10:34:16.118" v="7774" actId="20577"/>
          <ac:spMkLst>
            <pc:docMk/>
            <pc:sldMk cId="2151614007" sldId="486"/>
            <ac:spMk id="18" creationId="{45FC426C-B67C-2E15-E628-A53E1931698E}"/>
          </ac:spMkLst>
        </pc:spChg>
        <pc:picChg chg="add mod ord">
          <ac:chgData name="Jelle van Barneveld" userId="bc7ecfdf-3719-43bf-9ebf-4e7030cd4705" providerId="ADAL" clId="{8FBCD94A-1B0B-4C78-B10A-8D7F43414B78}" dt="2026-03-04T10:33:24.551" v="7729" actId="1076"/>
          <ac:picMkLst>
            <pc:docMk/>
            <pc:sldMk cId="2151614007" sldId="486"/>
            <ac:picMk id="17" creationId="{C71D351F-6891-5840-3AA9-C0F9A65EFD13}"/>
          </ac:picMkLst>
        </pc:picChg>
      </pc:sldChg>
      <pc:sldChg chg="addSp delSp modSp add mod modAnim modNotesTx">
        <pc:chgData name="Jelle van Barneveld" userId="bc7ecfdf-3719-43bf-9ebf-4e7030cd4705" providerId="ADAL" clId="{8FBCD94A-1B0B-4C78-B10A-8D7F43414B78}" dt="2026-03-04T10:56:30.876" v="8595"/>
        <pc:sldMkLst>
          <pc:docMk/>
          <pc:sldMk cId="878819261" sldId="488"/>
        </pc:sldMkLst>
        <pc:spChg chg="add mod">
          <ac:chgData name="Jelle van Barneveld" userId="bc7ecfdf-3719-43bf-9ebf-4e7030cd4705" providerId="ADAL" clId="{8FBCD94A-1B0B-4C78-B10A-8D7F43414B78}" dt="2026-03-04T10:56:22.193" v="8594" actId="20577"/>
          <ac:spMkLst>
            <pc:docMk/>
            <pc:sldMk cId="878819261" sldId="488"/>
            <ac:spMk id="2" creationId="{826EAB30-8E49-79A2-EA74-FA09551E0226}"/>
          </ac:spMkLst>
        </pc:spChg>
        <pc:picChg chg="add mod">
          <ac:chgData name="Jelle van Barneveld" userId="bc7ecfdf-3719-43bf-9ebf-4e7030cd4705" providerId="ADAL" clId="{8FBCD94A-1B0B-4C78-B10A-8D7F43414B78}" dt="2026-03-04T10:38:58.146" v="8075" actId="14100"/>
          <ac:picMkLst>
            <pc:docMk/>
            <pc:sldMk cId="878819261" sldId="488"/>
            <ac:picMk id="5" creationId="{80906784-EBF1-D0B1-7A5D-4C63CA421BAA}"/>
          </ac:picMkLst>
        </pc:picChg>
      </pc:sldChg>
      <pc:sldChg chg="addSp delSp modSp add mod ord modNotesTx">
        <pc:chgData name="Jelle van Barneveld" userId="bc7ecfdf-3719-43bf-9ebf-4e7030cd4705" providerId="ADAL" clId="{8FBCD94A-1B0B-4C78-B10A-8D7F43414B78}" dt="2026-03-16T17:44:18.296" v="9542" actId="20577"/>
        <pc:sldMkLst>
          <pc:docMk/>
          <pc:sldMk cId="2509448224" sldId="489"/>
        </pc:sldMkLst>
        <pc:spChg chg="add mod">
          <ac:chgData name="Jelle van Barneveld" userId="bc7ecfdf-3719-43bf-9ebf-4e7030cd4705" providerId="ADAL" clId="{8FBCD94A-1B0B-4C78-B10A-8D7F43414B78}" dt="2026-03-04T10:51:08.848" v="8198" actId="1076"/>
          <ac:spMkLst>
            <pc:docMk/>
            <pc:sldMk cId="2509448224" sldId="489"/>
            <ac:spMk id="5" creationId="{E9ACC9A8-1075-EA84-C22F-8F6A7D2D31DC}"/>
          </ac:spMkLst>
        </pc:spChg>
        <pc:spChg chg="mod">
          <ac:chgData name="Jelle van Barneveld" userId="bc7ecfdf-3719-43bf-9ebf-4e7030cd4705" providerId="ADAL" clId="{8FBCD94A-1B0B-4C78-B10A-8D7F43414B78}" dt="2026-03-04T10:51:34.968" v="8229" actId="20577"/>
          <ac:spMkLst>
            <pc:docMk/>
            <pc:sldMk cId="2509448224" sldId="489"/>
            <ac:spMk id="7" creationId="{A3090C8F-CA3D-EF2D-365B-D9850E057A18}"/>
          </ac:spMkLst>
        </pc:spChg>
        <pc:spChg chg="add mod">
          <ac:chgData name="Jelle van Barneveld" userId="bc7ecfdf-3719-43bf-9ebf-4e7030cd4705" providerId="ADAL" clId="{8FBCD94A-1B0B-4C78-B10A-8D7F43414B78}" dt="2026-03-04T10:49:55.313" v="8182" actId="1076"/>
          <ac:spMkLst>
            <pc:docMk/>
            <pc:sldMk cId="2509448224" sldId="489"/>
            <ac:spMk id="9" creationId="{B4D954A5-715F-6EAA-AB18-B90862983AD8}"/>
          </ac:spMkLst>
        </pc:spChg>
        <pc:picChg chg="add mod">
          <ac:chgData name="Jelle van Barneveld" userId="bc7ecfdf-3719-43bf-9ebf-4e7030cd4705" providerId="ADAL" clId="{8FBCD94A-1B0B-4C78-B10A-8D7F43414B78}" dt="2026-03-04T10:49:47.749" v="8181" actId="1076"/>
          <ac:picMkLst>
            <pc:docMk/>
            <pc:sldMk cId="2509448224" sldId="489"/>
            <ac:picMk id="3" creationId="{7E2EC363-F875-6B70-B5BC-7D70C8B250ED}"/>
          </ac:picMkLst>
        </pc:picChg>
      </pc:sldChg>
      <pc:sldChg chg="addSp delSp modSp add mod ord">
        <pc:chgData name="Jelle van Barneveld" userId="bc7ecfdf-3719-43bf-9ebf-4e7030cd4705" providerId="ADAL" clId="{8FBCD94A-1B0B-4C78-B10A-8D7F43414B78}" dt="2026-03-04T10:56:47.775" v="8617" actId="20577"/>
        <pc:sldMkLst>
          <pc:docMk/>
          <pc:sldMk cId="212466495" sldId="490"/>
        </pc:sldMkLst>
        <pc:spChg chg="mod">
          <ac:chgData name="Jelle van Barneveld" userId="bc7ecfdf-3719-43bf-9ebf-4e7030cd4705" providerId="ADAL" clId="{8FBCD94A-1B0B-4C78-B10A-8D7F43414B78}" dt="2026-03-04T10:56:47.775" v="8617" actId="20577"/>
          <ac:spMkLst>
            <pc:docMk/>
            <pc:sldMk cId="212466495" sldId="490"/>
            <ac:spMk id="2" creationId="{28B88A0F-DED9-C658-1A4A-0CBC79450DF1}"/>
          </ac:spMkLst>
        </pc:spChg>
        <pc:spChg chg="mod">
          <ac:chgData name="Jelle van Barneveld" userId="bc7ecfdf-3719-43bf-9ebf-4e7030cd4705" providerId="ADAL" clId="{8FBCD94A-1B0B-4C78-B10A-8D7F43414B78}" dt="2026-03-04T10:51:47.504" v="8232" actId="14100"/>
          <ac:spMkLst>
            <pc:docMk/>
            <pc:sldMk cId="212466495" sldId="490"/>
            <ac:spMk id="7" creationId="{1082F054-55F1-EECE-9903-9FDE4CD73D44}"/>
          </ac:spMkLst>
        </pc:spChg>
        <pc:picChg chg="add mod">
          <ac:chgData name="Jelle van Barneveld" userId="bc7ecfdf-3719-43bf-9ebf-4e7030cd4705" providerId="ADAL" clId="{8FBCD94A-1B0B-4C78-B10A-8D7F43414B78}" dt="2026-03-04T10:50:44.081" v="8191" actId="14100"/>
          <ac:picMkLst>
            <pc:docMk/>
            <pc:sldMk cId="212466495" sldId="490"/>
            <ac:picMk id="4" creationId="{8A3FB485-C302-23AF-904B-853E953CF7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41D0E-EB88-4749-89F8-9DFB374F9C1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88B787-19A5-4841-9136-A8C6238BB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defTabSz="477838" rtl="0" eaLnBrk="0" fontAlgn="base" latinLnBrk="0" hangingPunct="0">
              <a:lnSpc>
                <a:spcPct val="100000"/>
              </a:lnSpc>
              <a:spcBef>
                <a:spcPts val="7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buNone/>
              <a:tabLst>
                <a:tab pos="755650" algn="l"/>
                <a:tab pos="1511300" algn="l"/>
                <a:tab pos="2268538" algn="l"/>
                <a:tab pos="3024188" algn="l"/>
              </a:tabLst>
              <a:defRPr/>
            </a:pPr>
            <a:fld id="{F751C962-19B1-E941-BF11-D365F135F8D5}" type="slidenum">
              <a:rPr kumimoji="0" lang="en-GB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MS PGothic" charset="0"/>
                <a:cs typeface="+mn-cs"/>
              </a:rPr>
              <a:pPr marL="0" marR="0" lvl="0" indent="0" algn="r" defTabSz="477838" rtl="0" eaLnBrk="0" fontAlgn="base" latinLnBrk="0" hangingPunct="0">
                <a:lnSpc>
                  <a:spcPct val="100000"/>
                </a:lnSpc>
                <a:spcBef>
                  <a:spcPts val="7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755650" algn="l"/>
                  <a:tab pos="1511300" algn="l"/>
                  <a:tab pos="2268538" algn="l"/>
                  <a:tab pos="3024188" algn="l"/>
                </a:tabLst>
                <a:defRPr/>
              </a:pPr>
              <a:t>1</a:t>
            </a:fld>
            <a:endParaRPr kumimoji="0" lang="en-GB" sz="13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MS PGothic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184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794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19383-69C6-E206-E1FE-8E78ABB3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5194122-3163-46F6-3EFD-E1511F3D4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DACA011-B1FF-33D8-0FBD-41BD5B32A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In het Power-BI-bestand is al het volgende aanwezig.</a:t>
            </a:r>
          </a:p>
          <a:p>
            <a:pPr marL="171450" indent="-171450">
              <a:buFontTx/>
              <a:buChar char="-"/>
            </a:pPr>
            <a:r>
              <a:rPr lang="nl-NL" dirty="0"/>
              <a:t>Verbindingen naar elk van de </a:t>
            </a:r>
            <a:r>
              <a:rPr lang="nl-NL" dirty="0" err="1"/>
              <a:t>AenC</a:t>
            </a:r>
            <a:r>
              <a:rPr lang="nl-NL" dirty="0"/>
              <a:t>-</a:t>
            </a:r>
            <a:r>
              <a:rPr lang="nl-NL" dirty="0" err="1"/>
              <a:t>SQLite</a:t>
            </a:r>
            <a:r>
              <a:rPr lang="nl-NL" dirty="0"/>
              <a:t>-databases</a:t>
            </a:r>
          </a:p>
          <a:p>
            <a:pPr marL="171450" indent="-171450">
              <a:buFontTx/>
              <a:buChar char="-"/>
            </a:pPr>
            <a:r>
              <a:rPr lang="nl-NL" dirty="0"/>
              <a:t>Verbinding met het </a:t>
            </a:r>
            <a:r>
              <a:rPr lang="nl-NL" dirty="0" err="1"/>
              <a:t>SDM_log</a:t>
            </a:r>
            <a:r>
              <a:rPr lang="nl-NL" dirty="0"/>
              <a:t>.</a:t>
            </a:r>
          </a:p>
          <a:p>
            <a:pPr marL="0" indent="0">
              <a:buFontTx/>
              <a:buNone/>
            </a:pPr>
            <a:r>
              <a:rPr lang="nl-NL" dirty="0"/>
              <a:t>Dit werkt met de locaties op Jelles B’s laptop </a:t>
            </a:r>
            <a:r>
              <a:rPr lang="nl-NL" dirty="0">
                <a:sym typeface="Wingdings" panose="05000000000000000000" pitchFamily="2" charset="2"/>
              </a:rPr>
              <a:t>.</a:t>
            </a:r>
            <a:endParaRPr lang="nl-NL" dirty="0"/>
          </a:p>
          <a:p>
            <a:pPr marL="0" indent="0">
              <a:buFontTx/>
              <a:buNone/>
            </a:pPr>
            <a:endParaRPr lang="nl-NL" dirty="0"/>
          </a:p>
          <a:p>
            <a:pPr marL="0" indent="0">
              <a:buFontTx/>
              <a:buNone/>
            </a:pPr>
            <a:r>
              <a:rPr lang="nl-NL" dirty="0"/>
              <a:t>Te ondernemen stappen om het </a:t>
            </a:r>
            <a:r>
              <a:rPr lang="nl-NL" dirty="0" err="1"/>
              <a:t>SDM_log</a:t>
            </a:r>
            <a:r>
              <a:rPr lang="nl-NL" dirty="0"/>
              <a:t> analyseerbaar te maken: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Kolom splitsen op scheidingsteken | (inclusief spatie ervoor en erachter).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Kolom splitsen op scheidingsteken  - (inclusief spatie ervoor en erachter).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Kolom splitsen op scheidingsteken : (alleen spatie erachter, niet ervoor).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Kolom splitsen op INSERT INTO (alleen spatie erachter, niet ervoor).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Kolom splitsen op VALUES (inclusief spatie ervoor </a:t>
            </a:r>
            <a:r>
              <a:rPr lang="nl-NL"/>
              <a:t>en erachter</a:t>
            </a:r>
            <a:r>
              <a:rPr lang="nl-NL" dirty="0"/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Datatypen kolommen aanpassen (met “Gegevenstype detecteren”.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dirty="0"/>
              <a:t>Namen kolommen aanpassen.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24DBEC7-6614-362B-D812-FA820B168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5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19C8C-D629-3BAE-B965-5CB295AB6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8C5B4F3-D7D2-F861-B972-7907EA8A7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DB624DF-3286-11EA-29C8-3815E0E69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6C5DB9B-5A13-3733-24CE-2456F0684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70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C4C9-4B09-9856-9CC0-ADE459490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BCA3CB5-5E84-547D-31ED-D3AC4445F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02DF3030-A07B-93BE-2838-3CB87D4D1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A4B17AE-4D39-F34B-E11D-B7F2972B9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81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5AD24-60BF-36A8-037D-3E0A76A9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958E813D-F338-B8BD-36EF-66175AE27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9A5D744-E56D-B03F-4F81-3382F5AD2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4227625-A4E9-B34C-EEA9-BF72DD2B6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29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E3EF9-274A-CF73-C610-21C3D7841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3D6DE9C-9353-C911-6951-5BE48AB87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3504BF4-8DB8-FD68-3D76-6F68A34060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DA6717C-58CB-A5E9-0B8F-7883DFB20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43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0DECA-D691-9932-BAE8-96A6292B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7D9400E-BB90-0668-E188-2C9300160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39B7B31-6933-84FA-64B1-BECFFF65B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9F7D7C4-BC39-6655-AB69-D7A442848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40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F7114-50D2-354D-4497-07FD6E4DC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86D8F66-B578-C9FD-211A-F929B130DC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8413B9-EA64-8323-3F4E-A1B1567E1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FF20B9-69FB-07B2-072A-44068530B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603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4FE2-9F0D-52B0-329E-BEEDB4DC2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88DEB44-6CE1-549E-8F01-7990D5F08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497A789-37FC-9CEE-630F-07EB72A0E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6DF365-5CD1-C724-6F33-D1A4486B1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45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12E26-E486-F25E-44E5-16591270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BF32485-2728-4679-CAF8-14E13F280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9C036F4-A299-96DA-FEBC-575701B04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3BE7138-5EF8-C9A9-E7BF-721C17408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28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3D43D-8556-2F6F-21F9-A5BEAF61E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54E9132-A907-DF62-E6E8-8EC929A99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1C343BF-42BA-450B-2348-5B1FD1A7A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7487E27-7078-D833-EF96-00F98D8AD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50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6B55-1232-9D60-AE16-98C0B7E3B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18EB392C-FBE1-E443-8AC0-9BA7232EB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494092D-453D-E514-DE3F-F439F3D56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DCB792E-6004-2B9D-AD3C-2457B122B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789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C22CB-7B7F-1B32-8802-EA97825D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F4E112D-4150-DE98-217D-6106A2DAA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6F30EB0-C2D6-7C1A-CED1-444988FA8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nl-NL" dirty="0"/>
              <a:t>Te ondernemen stappen om de juiste verbindingen te krijgen in het datamodel:</a:t>
            </a:r>
          </a:p>
          <a:p>
            <a:pPr marL="0" indent="0">
              <a:buFontTx/>
              <a:buNone/>
            </a:pPr>
            <a:r>
              <a:rPr lang="nl-NL" dirty="0" err="1"/>
              <a:t>Prod_id</a:t>
            </a:r>
            <a:r>
              <a:rPr lang="nl-NL" dirty="0"/>
              <a:t> uit </a:t>
            </a:r>
            <a:r>
              <a:rPr lang="nl-NL" dirty="0" err="1"/>
              <a:t>sales_order_item</a:t>
            </a:r>
            <a:r>
              <a:rPr lang="nl-NL" dirty="0"/>
              <a:t> verbinden met </a:t>
            </a:r>
            <a:r>
              <a:rPr lang="nl-NL" dirty="0" err="1"/>
              <a:t>id</a:t>
            </a:r>
            <a:r>
              <a:rPr lang="nl-NL" dirty="0"/>
              <a:t> uit product.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34C7FC9-7136-CEE0-9BE1-12A4F4814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98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636C-C8D5-20BA-4574-68F5D662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502378A-E962-F329-77FD-4493154847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AB4C73FF-E9C5-3E0F-0A2D-117899C87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4D14F21-CB58-AD5F-131D-5F8DB88BD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81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1A39E-8EAB-280B-2E53-925AE50C6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B186C747-B62E-DA21-7AED-EE162825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C62D6DAC-13E6-F862-8F82-9C11D174F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4696EAA-5EE7-05E8-ED5F-23FE20F1E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A179-6BFF-5245-9103-82512539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225F7B-A718-3DD3-B07C-8BB9D78DF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EEAC649-C214-6961-A174-BFDBA4578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CF7145C-A356-05E4-1280-5D3818455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0045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7018-D30D-BF30-02F3-A1434513A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C9442ED-8538-B15C-B604-A14499A2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5A36BB4-A761-36EE-1BA7-DD1E295E94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F5021A5-C451-22E4-F947-986E2EF35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55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EFF22-F697-CA26-C37A-EF219746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DE9022C6-6F75-7FD9-CA2D-97370BD8A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9D26F57-8D7D-1580-7537-E5296998E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0FEA23E-72C1-00D7-83E7-E9CE7FE6A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7CBEC-879D-4917-8D46-5F3379606FA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55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56E09-0CF7-15FE-56AE-AE2E7006BA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2C46A-8596-B33A-41BF-366F0B9C7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80EAD-293B-3E82-7011-9362B1852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DC25E-D1B9-004D-65A4-A9F2925A5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3C643-E9BF-9350-BA5B-D59CDAF2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466375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AC38-465A-FCC3-19DB-3C9769EC9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3C0E-B795-CB22-8144-DEBE8E52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83648-CD85-36A6-CD18-E358C188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FC97-521F-4024-F7E5-F39DC51A0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B9FE3-1390-D2E6-7A7F-5DB9A4FD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86675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5CC-9A3B-32C7-26FA-7633AA549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676F7-064C-4F26-1F72-ABFA718D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17449-E52C-836C-22C1-A220B80D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EDBA3-7981-A147-894E-FBFEBC4E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A01B8-6A5C-FB02-094E-4E81295A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4010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475C-EE23-3178-A543-73FB811C5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8AB17-626A-5333-0A6E-CB12FEA6D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213F0F-4796-84F5-DBE7-43D61AD83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6BAF8-6E9E-0047-C4AF-6160F2736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037A4-3D45-7E03-AF61-940775F3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FC9BB-0E76-AB74-BDB5-D56968BC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8537262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D902-B76B-0D3B-7D8E-EC62DB73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87664-4DB7-3A7A-9154-32CA8884A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BF2F29-D106-938C-7A85-CC58AA8C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78DE05-771E-EAF7-B5AD-DB62810DD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CAFE87-8F2D-F296-E5BE-76C0F381E0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ADE75-237D-46D1-ACCC-056D7986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50C1E-DB96-C177-6BCD-6837B457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5317B8-7B96-056C-C7A6-38D4E1FEE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1827363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630FC-7829-8CDA-4A7A-B763E7F01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884C6-40AE-7A1A-646F-FDB97DF4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9C0B22-A8AB-852C-7952-E20D6422F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1647F-ACAF-E312-C8BB-7F265E5E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666432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69462-9FEA-5D88-EE00-E187BAA4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B7087A-F4BC-7377-70F3-0A571BD7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184FF-048E-0634-23CE-F08BC130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4056406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0A2F-4D46-B289-C61D-EBEAFA11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170F-AB91-8E12-212F-57BF0430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F1DB-E4ED-A226-CC84-D5BC80092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7C25F-3269-1F4E-CECA-5F2EF4454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E8728-A678-4921-52FF-FAC84DA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1AA8-97A5-DAD4-C8BC-65BC563F9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810437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1CA4B-6237-DD8B-3CF0-8F9C6FB9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42D31B-B7BB-010A-4AA4-79370FF57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D15A3-2F7F-E910-4E49-0319EF17F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373E74-A348-3972-B8B8-EF901921A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FB359-D110-649F-2709-F12065329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DCBB-7F8D-7680-B733-5A497210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064911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FF2-C20E-F920-8CD9-F976324B3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FCEA7-24D9-D5DC-C977-375463206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CC4D3-B485-2A8D-BCF7-F3BAC5F16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B089-D6C5-1314-9322-0562E592B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57239-F72A-B3B9-4251-D09071CFD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49622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FB015-28AB-C2F6-BF24-7B41FC5C45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5C4992-6315-8134-344F-FBC543F69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BBA65-F8D1-924C-C2F9-7A3F3711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9CD2E-031C-46D2-1A49-7115D8930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EE953-6330-21D1-00CB-7FC8C8955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13240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11FA4E-E385-847C-AE6D-230355D6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B839E-C7CC-BF9A-55C1-AD77C38C5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0ABAE-69DA-E883-5ADB-EB9AC96D0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6B45D-D98F-4A32-A567-4AE2A91459D6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2FF5B-BFA7-55B6-6151-5B263570E6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nl-NL"/>
              <a:t>invoegen-voet-koptekst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7B8DA-67AF-B29B-FC1D-2E0669688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C737D-49A5-4740-8401-0C4DFF2B9D4A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8C1A59F-BCA0-79F1-6F87-079182BCC73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4763"/>
            <a:ext cx="9779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585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7">
            <a:extLst>
              <a:ext uri="{FF2B5EF4-FFF2-40B4-BE49-F238E27FC236}">
                <a16:creationId xmlns:a16="http://schemas.microsoft.com/office/drawing/2014/main" id="{5ECCA89E-3666-CEB9-DEEF-AE7D0C9A09D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AAD41C4-AB8B-603C-1D5D-873690001E0D}"/>
              </a:ext>
            </a:extLst>
          </p:cNvPr>
          <p:cNvSpPr txBox="1"/>
          <p:nvPr/>
        </p:nvSpPr>
        <p:spPr>
          <a:xfrm>
            <a:off x="1455575" y="0"/>
            <a:ext cx="1039177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nl-NL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Data Pipeline Monitoring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829C30"/>
              </a:solidFill>
              <a:effectLst/>
              <a:uLnTx/>
              <a:uFillTx/>
              <a:latin typeface="Arial"/>
              <a:ea typeface="MS PGothic" charset="0"/>
              <a:cs typeface="+mn-cs"/>
            </a:endParaRPr>
          </a:p>
        </p:txBody>
      </p:sp>
      <p:pic>
        <p:nvPicPr>
          <p:cNvPr id="1026" name="Picture 2" descr="ADF.procfwk v1.5 – Power BI Dashboard for Framework Executions – Welcome to  the Blog of Paul Andrew">
            <a:extLst>
              <a:ext uri="{FF2B5EF4-FFF2-40B4-BE49-F238E27FC236}">
                <a16:creationId xmlns:a16="http://schemas.microsoft.com/office/drawing/2014/main" id="{0966C41A-C1D2-C726-65F2-FFD672A5F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422" y="948267"/>
            <a:ext cx="11198578" cy="5890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0601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456B-016C-6087-75E4-C4E0B82C0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137B65-0F5F-5CBC-0715-07670801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2854DD8-D5D6-3573-734A-E4A70656C34C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520BED97-FC94-45CA-F3DD-46184F4F31E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654BFEBA-B921-101F-76CE-27F02124A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B24341-B902-616D-620D-5193D54611DA}"/>
              </a:ext>
            </a:extLst>
          </p:cNvPr>
          <p:cNvSpPr txBox="1"/>
          <p:nvPr/>
        </p:nvSpPr>
        <p:spPr>
          <a:xfrm>
            <a:off x="3512128" y="703521"/>
            <a:ext cx="1753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0FA089-F7C0-429D-C383-7EC6C3362F1D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7A9119-2B2F-2329-6C07-62AF15ADBC82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9A5CB1-ACD6-C0C9-567D-B7EAD22A3683}"/>
              </a:ext>
            </a:extLst>
          </p:cNvPr>
          <p:cNvSpPr txBox="1"/>
          <p:nvPr/>
        </p:nvSpPr>
        <p:spPr>
          <a:xfrm>
            <a:off x="7671692" y="2801144"/>
            <a:ext cx="342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Logdata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op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manier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inladen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via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“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Gegevens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transformeren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 de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substrings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extraheren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D27BBFE-1A91-5E69-3FBF-F8C4C55BC20B}"/>
              </a:ext>
            </a:extLst>
          </p:cNvPr>
          <p:cNvSpPr txBox="1">
            <a:spLocks/>
          </p:cNvSpPr>
          <p:nvPr/>
        </p:nvSpPr>
        <p:spPr>
          <a:xfrm>
            <a:off x="8601364" y="63813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7C737D-49A5-4740-8401-0C4DFF2B9D4A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C22F641-0A11-C2CC-48C4-B4D1B79A972F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5E49B-3776-AF90-ACC3-098EE4BD7E2F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je…</a:t>
            </a:r>
          </a:p>
        </p:txBody>
      </p:sp>
      <p:pic>
        <p:nvPicPr>
          <p:cNvPr id="16" name="Picture 6" descr="Smile Emoji Happy - Free vector graphic on Pixabay">
            <a:extLst>
              <a:ext uri="{FF2B5EF4-FFF2-40B4-BE49-F238E27FC236}">
                <a16:creationId xmlns:a16="http://schemas.microsoft.com/office/drawing/2014/main" id="{46DF54FC-BB4A-634C-D7CE-E80258EC5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160" y="3256876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6">
            <a:extLst>
              <a:ext uri="{FF2B5EF4-FFF2-40B4-BE49-F238E27FC236}">
                <a16:creationId xmlns:a16="http://schemas.microsoft.com/office/drawing/2014/main" id="{F789B645-F40B-2A20-FBDB-2F31B989CF12}"/>
              </a:ext>
            </a:extLst>
          </p:cNvPr>
          <p:cNvSpPr txBox="1"/>
          <p:nvPr/>
        </p:nvSpPr>
        <p:spPr>
          <a:xfrm>
            <a:off x="3255649" y="1329621"/>
            <a:ext cx="229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Waarvoor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Power BI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D50E873D-C2C0-46D3-087A-DAB1BF74BB1E}"/>
              </a:ext>
            </a:extLst>
          </p:cNvPr>
          <p:cNvSpPr txBox="1"/>
          <p:nvPr/>
        </p:nvSpPr>
        <p:spPr>
          <a:xfrm>
            <a:off x="1795701" y="2568322"/>
            <a:ext cx="320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Hoe je ongestructureerde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logdata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tóch leesbaar maakt voor Power BI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1A9D-9A80-FEC9-2712-D03B1CC444F0}"/>
              </a:ext>
            </a:extLst>
          </p:cNvPr>
          <p:cNvSpPr txBox="1"/>
          <p:nvPr/>
        </p:nvSpPr>
        <p:spPr>
          <a:xfrm>
            <a:off x="7041164" y="1540072"/>
            <a:ext cx="312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met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juiste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datatypen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inladen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verbinden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23B88B9B-0F71-78CB-37FD-FD7C8C560E19}"/>
              </a:ext>
            </a:extLst>
          </p:cNvPr>
          <p:cNvSpPr txBox="1"/>
          <p:nvPr/>
        </p:nvSpPr>
        <p:spPr>
          <a:xfrm>
            <a:off x="1982407" y="3846887"/>
            <a:ext cx="2954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Hoe je je pijplijn-logs kan visualiseren in Power BI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CCEB7-E21F-50B5-7C50-DA9AD4D5A17A}"/>
              </a:ext>
            </a:extLst>
          </p:cNvPr>
          <p:cNvSpPr txBox="1"/>
          <p:nvPr/>
        </p:nvSpPr>
        <p:spPr>
          <a:xfrm>
            <a:off x="7980646" y="4238778"/>
            <a:ext cx="2954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verschillende manieren pijplijn-logs visualiseren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BAC634EE-7ECE-1C6B-8B5C-145BCF474E82}"/>
              </a:ext>
            </a:extLst>
          </p:cNvPr>
          <p:cNvSpPr txBox="1"/>
          <p:nvPr/>
        </p:nvSpPr>
        <p:spPr>
          <a:xfrm>
            <a:off x="2440397" y="5007352"/>
            <a:ext cx="2954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een datamodel is in Power BI en hoe je daaruit visualisatie-opties kan afleiden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CE813A-85F2-4218-850A-888075520988}"/>
              </a:ext>
            </a:extLst>
          </p:cNvPr>
          <p:cNvSpPr txBox="1"/>
          <p:nvPr/>
        </p:nvSpPr>
        <p:spPr>
          <a:xfrm>
            <a:off x="7651000" y="5374453"/>
            <a:ext cx="2954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kwaliteit van je Power-BI-datamodel controleren aan de hand van je Sterschema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72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4" grpId="0"/>
      <p:bldP spid="9" grpId="0"/>
      <p:bldP spid="12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BA269D03-4CD4-A824-783F-AFAA660F0E4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0E66AFB-DF6F-DB65-946D-3F73E052EE22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Power BI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262CF38-BB42-BEB5-C710-06267CB16BF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16">
            <a:extLst>
              <a:ext uri="{FF2B5EF4-FFF2-40B4-BE49-F238E27FC236}">
                <a16:creationId xmlns:a16="http://schemas.microsoft.com/office/drawing/2014/main" id="{212DF21B-06F7-D25B-76B0-18021411B2FD}"/>
              </a:ext>
            </a:extLst>
          </p:cNvPr>
          <p:cNvSpPr txBox="1"/>
          <p:nvPr/>
        </p:nvSpPr>
        <p:spPr>
          <a:xfrm>
            <a:off x="1001467" y="1270613"/>
            <a:ext cx="51077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Functies</a:t>
            </a: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verzamelen en “schoonmaken” uit meerdere bronnen</a:t>
            </a: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interactief visualiseren.</a:t>
            </a: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Menselijke samenwerking faciliteren bij bovengenoemde functies</a:t>
            </a:r>
          </a:p>
          <a:p>
            <a:pPr marL="285750" indent="-285750">
              <a:buFontTx/>
              <a:buChar char="-"/>
            </a:pPr>
            <a:endParaRPr lang="nl-NL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nl-NL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nl-NL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nl-NL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nl-NL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nl-NL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Versies</a:t>
            </a: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Desktop: voor het bouwen van dashboards.</a:t>
            </a: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Service: voor het publiceren van dashboards naar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cloudomgevingen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Mobile: app voor mobiele apparaten, zoals smartphones &amp; tablets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397D2-C347-C4B9-030D-C2E553B47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9177" y="1352555"/>
            <a:ext cx="5863748" cy="499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4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CE2E7-18B7-B307-182F-C7E7DC81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7FE01942-F385-9F22-60DE-C9F0E7F47170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2050" name="Picture 2" descr="Demo - Applied Post">
            <a:extLst>
              <a:ext uri="{FF2B5EF4-FFF2-40B4-BE49-F238E27FC236}">
                <a16:creationId xmlns:a16="http://schemas.microsoft.com/office/drawing/2014/main" id="{59677395-633D-8329-EB52-0A7E84EEB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47" y="633077"/>
            <a:ext cx="11188953" cy="611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7D4129-59AB-BC57-4CEB-44DD4A665D71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Logdata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inladen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visualiseren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25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6A20D-DCA1-0E48-9F9A-F0AF57BF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024D56-62D9-F007-8761-48512FD66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10" y="823934"/>
            <a:ext cx="11303196" cy="6034066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D390E3C2-A034-846D-B4B5-C7C39723CA93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A66DF36-2FCD-6A81-174C-545C034477E7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inladen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ED7DCB6D-534D-AEE3-CEFE-9ED39E25CE03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35559F7-677A-EC59-6286-66F45E84B57B}"/>
              </a:ext>
            </a:extLst>
          </p:cNvPr>
          <p:cNvSpPr/>
          <p:nvPr/>
        </p:nvSpPr>
        <p:spPr>
          <a:xfrm>
            <a:off x="1814945" y="1167413"/>
            <a:ext cx="581025" cy="619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4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B709-B669-2036-7CCA-113A9132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58D88F-8869-D539-39ED-4FB77A09E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812800"/>
            <a:ext cx="11203710" cy="6045200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77603BB8-693D-8C84-2186-2BF919068037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521E00E0-6786-82D2-21A0-47072A495CCF}"/>
              </a:ext>
            </a:extLst>
          </p:cNvPr>
          <p:cNvSpPr txBox="1"/>
          <p:nvPr/>
        </p:nvSpPr>
        <p:spPr>
          <a:xfrm>
            <a:off x="938067" y="-8337"/>
            <a:ext cx="1130415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transformeren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kolomnamen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aanpassen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dubbelklikken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)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4992093C-C9B0-55F9-A61B-55F31EA06535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7587EC3-4F87-9834-2222-151F82656EB7}"/>
              </a:ext>
            </a:extLst>
          </p:cNvPr>
          <p:cNvSpPr/>
          <p:nvPr/>
        </p:nvSpPr>
        <p:spPr>
          <a:xfrm>
            <a:off x="2949286" y="1167413"/>
            <a:ext cx="685800" cy="2190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87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98069-4F45-31F4-393D-8BF84294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76B51A-E931-F6F1-6AE9-BCD255ADB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1" y="893618"/>
            <a:ext cx="7999846" cy="5964381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7D693081-0F40-2C09-2588-0D27757A396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3346AAC7-FD6E-CA38-1A09-5728BDF95B52}"/>
              </a:ext>
            </a:extLst>
          </p:cNvPr>
          <p:cNvSpPr txBox="1"/>
          <p:nvPr/>
        </p:nvSpPr>
        <p:spPr>
          <a:xfrm>
            <a:off x="938067" y="-8337"/>
            <a:ext cx="1130415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transformeren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onnodige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Python-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regelnrs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weghalen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B46703F1-1E1A-A3B1-479D-D098420D2C44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9AE58F0-9907-2996-ABD0-A8A1A38FB9DC}"/>
              </a:ext>
            </a:extLst>
          </p:cNvPr>
          <p:cNvSpPr/>
          <p:nvPr/>
        </p:nvSpPr>
        <p:spPr>
          <a:xfrm>
            <a:off x="1899804" y="880571"/>
            <a:ext cx="685800" cy="2190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A324A4-EB25-8D9B-99D7-58D4665E68B1}"/>
              </a:ext>
            </a:extLst>
          </p:cNvPr>
          <p:cNvSpPr/>
          <p:nvPr/>
        </p:nvSpPr>
        <p:spPr>
          <a:xfrm>
            <a:off x="7798376" y="1251180"/>
            <a:ext cx="685800" cy="2190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kstvak 10">
            <a:extLst>
              <a:ext uri="{FF2B5EF4-FFF2-40B4-BE49-F238E27FC236}">
                <a16:creationId xmlns:a16="http://schemas.microsoft.com/office/drawing/2014/main" id="{59342846-7669-65C7-7CB5-E610CD72E5F0}"/>
              </a:ext>
            </a:extLst>
          </p:cNvPr>
          <p:cNvSpPr txBox="1"/>
          <p:nvPr/>
        </p:nvSpPr>
        <p:spPr>
          <a:xfrm>
            <a:off x="9187251" y="2998645"/>
            <a:ext cx="2864552" cy="1754326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 je waarden uit rijen volledig overschrijven?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Dan “Transformeren”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Anders: “Kolom Toevoegen” (zie volgende slide)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6864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E7A28-8EFD-B9A2-6BC0-E13CA95F5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57E7D164-7E5B-DE84-A6D4-0737FBEAC6E6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0C79D691-3DCD-E59B-49CD-AAF84F5247F8}"/>
              </a:ext>
            </a:extLst>
          </p:cNvPr>
          <p:cNvSpPr txBox="1"/>
          <p:nvPr/>
        </p:nvSpPr>
        <p:spPr>
          <a:xfrm>
            <a:off x="938067" y="-8337"/>
            <a:ext cx="1130415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transformeren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onnodige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Python-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regelnrs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weghalen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5DBF16EB-6174-D9AE-80C4-61EB26FAD50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10">
            <a:extLst>
              <a:ext uri="{FF2B5EF4-FFF2-40B4-BE49-F238E27FC236}">
                <a16:creationId xmlns:a16="http://schemas.microsoft.com/office/drawing/2014/main" id="{9AB92570-04C8-A096-E128-3EC0A5390D28}"/>
              </a:ext>
            </a:extLst>
          </p:cNvPr>
          <p:cNvSpPr txBox="1"/>
          <p:nvPr/>
        </p:nvSpPr>
        <p:spPr>
          <a:xfrm>
            <a:off x="9377670" y="2998645"/>
            <a:ext cx="2864552" cy="1754326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 je waarden uit rijen volledig overschrijven?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Dan “Transformeren”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Anders: “Kolom Toevoegen” (zie volgende slide)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458426-634A-FCA4-F58A-A7C47B0C0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23" y="904008"/>
            <a:ext cx="8310547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275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249A-5B0C-DE5F-5C4E-388FFE8B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AF187-589A-23B7-E9D2-E0E9C6699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893618"/>
            <a:ext cx="11203710" cy="5964381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DC5A499-6567-24C2-7589-84D523DB7971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AC44FA0-46C7-DAA0-4A76-25294F26772E}"/>
              </a:ext>
            </a:extLst>
          </p:cNvPr>
          <p:cNvSpPr txBox="1"/>
          <p:nvPr/>
        </p:nvSpPr>
        <p:spPr>
          <a:xfrm>
            <a:off x="938067" y="-8337"/>
            <a:ext cx="1130415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transformeren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succesvol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van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gefaald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onderscheiden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73D886AE-5622-4C86-8428-5D143C9DEABB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56B54F4-4B67-641B-EE1C-E10D35D6B28B}"/>
              </a:ext>
            </a:extLst>
          </p:cNvPr>
          <p:cNvSpPr/>
          <p:nvPr/>
        </p:nvSpPr>
        <p:spPr>
          <a:xfrm>
            <a:off x="3385703" y="893618"/>
            <a:ext cx="1040824" cy="1974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877D4D-FDF2-B9B6-DE8D-9A0E19AD20BB}"/>
              </a:ext>
            </a:extLst>
          </p:cNvPr>
          <p:cNvSpPr/>
          <p:nvPr/>
        </p:nvSpPr>
        <p:spPr>
          <a:xfrm>
            <a:off x="10517909" y="1251180"/>
            <a:ext cx="974435" cy="2035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13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79C4-FCCD-E9DA-1F71-594B8F3C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EFD6A27F-8068-9838-B9A3-567D9189128E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204BF06-0457-CCC0-05BE-2584B30ACCF1}"/>
              </a:ext>
            </a:extLst>
          </p:cNvPr>
          <p:cNvSpPr txBox="1"/>
          <p:nvPr/>
        </p:nvSpPr>
        <p:spPr>
          <a:xfrm>
            <a:off x="938067" y="-8337"/>
            <a:ext cx="11304155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transformeren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: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succesvol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van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gefaald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onderscheiden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48BCEB7E-6BAD-26FE-FDFB-087A140F65F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27263E-212D-2D08-BE90-218021EE2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914400"/>
            <a:ext cx="1120371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41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920D-B348-B51A-80B7-10DF17B6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14FB26-3656-80D3-0F43-1381A44E9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973" y="812800"/>
            <a:ext cx="11058861" cy="6045200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99E5BAC7-C42F-0A7C-12F1-16D3BF3488F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F5C9B4E7-3D84-F96A-2161-8E2444DF016B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Logdata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visualiseren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(1/2)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24E57D59-4C67-27C6-034F-7F3BD4D466CA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5C181C-9D29-D1CF-E2FC-F41C996DC689}"/>
              </a:ext>
            </a:extLst>
          </p:cNvPr>
          <p:cNvSpPr/>
          <p:nvPr/>
        </p:nvSpPr>
        <p:spPr>
          <a:xfrm>
            <a:off x="981973" y="861049"/>
            <a:ext cx="316635" cy="30636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A7608A-7ABE-8F6B-CE80-1548825F058E}"/>
              </a:ext>
            </a:extLst>
          </p:cNvPr>
          <p:cNvSpPr/>
          <p:nvPr/>
        </p:nvSpPr>
        <p:spPr>
          <a:xfrm>
            <a:off x="9458195" y="1383279"/>
            <a:ext cx="380102" cy="4114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C3D7AE-D966-C294-9D1C-E055F8B55FDF}"/>
              </a:ext>
            </a:extLst>
          </p:cNvPr>
          <p:cNvSpPr/>
          <p:nvPr/>
        </p:nvSpPr>
        <p:spPr>
          <a:xfrm>
            <a:off x="9999111" y="1383279"/>
            <a:ext cx="380102" cy="41149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367B31-7179-B46A-ABD1-CCC82ED6E423}"/>
              </a:ext>
            </a:extLst>
          </p:cNvPr>
          <p:cNvSpPr/>
          <p:nvPr/>
        </p:nvSpPr>
        <p:spPr>
          <a:xfrm>
            <a:off x="9458195" y="4317043"/>
            <a:ext cx="1192487" cy="13373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4402DF-8E7C-9497-03B7-7CDFD2B3D450}"/>
              </a:ext>
            </a:extLst>
          </p:cNvPr>
          <p:cNvSpPr/>
          <p:nvPr/>
        </p:nvSpPr>
        <p:spPr>
          <a:xfrm>
            <a:off x="10840686" y="1589027"/>
            <a:ext cx="1114862" cy="133734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5CF919-2734-8512-5986-3EAB8015F410}"/>
              </a:ext>
            </a:extLst>
          </p:cNvPr>
          <p:cNvSpPr/>
          <p:nvPr/>
        </p:nvSpPr>
        <p:spPr>
          <a:xfrm>
            <a:off x="9648246" y="1915590"/>
            <a:ext cx="320052" cy="2934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10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05C5-2107-BFB9-D33A-DE4736285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n a white sheet&#10;&#10;AI-generated content may be incorrect.">
            <a:extLst>
              <a:ext uri="{FF2B5EF4-FFF2-40B4-BE49-F238E27FC236}">
                <a16:creationId xmlns:a16="http://schemas.microsoft.com/office/drawing/2014/main" id="{41EFA88D-F913-2272-A02B-A8F540963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89" y="890969"/>
            <a:ext cx="11203711" cy="5967031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0B0C4E40-B6CF-0DEF-529F-FD7E37718304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E6DE76AE-3419-5D1B-BA22-E26E13C42598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Logdata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visualiseren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(2/2)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6AF628EC-9961-7710-F023-142D14173379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F543FE1-9C4B-B2B7-1B5D-D7F5A3971867}"/>
              </a:ext>
            </a:extLst>
          </p:cNvPr>
          <p:cNvSpPr/>
          <p:nvPr/>
        </p:nvSpPr>
        <p:spPr>
          <a:xfrm>
            <a:off x="9563536" y="2263806"/>
            <a:ext cx="320052" cy="2934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4233C-C7F8-E0A5-1343-8DC811E2562B}"/>
              </a:ext>
            </a:extLst>
          </p:cNvPr>
          <p:cNvSpPr/>
          <p:nvPr/>
        </p:nvSpPr>
        <p:spPr>
          <a:xfrm>
            <a:off x="10922105" y="1714500"/>
            <a:ext cx="1269895" cy="130925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9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F0A5C-78C8-AE90-6DB9-8925885B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2CB45664-AA28-36F1-9F48-6395AD4BFBFB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pic>
        <p:nvPicPr>
          <p:cNvPr id="2050" name="Picture 2" descr="Demo - Applied Post">
            <a:extLst>
              <a:ext uri="{FF2B5EF4-FFF2-40B4-BE49-F238E27FC236}">
                <a16:creationId xmlns:a16="http://schemas.microsoft.com/office/drawing/2014/main" id="{0F64F446-96CE-DDDB-5F89-DC3BFF7B1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47" y="633077"/>
            <a:ext cx="11188953" cy="611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31FB61-C1AC-36BB-8DE1-85CAD0A5BCCE}"/>
              </a:ext>
            </a:extLst>
          </p:cNvPr>
          <p:cNvSpPr txBox="1"/>
          <p:nvPr/>
        </p:nvSpPr>
        <p:spPr>
          <a:xfrm>
            <a:off x="1003048" y="-10754"/>
            <a:ext cx="11188952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Het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juiste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Power-BI-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datamodel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opbouwen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vanuit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DWH-data</a:t>
            </a:r>
          </a:p>
        </p:txBody>
      </p:sp>
    </p:spTree>
    <p:extLst>
      <p:ext uri="{BB962C8B-B14F-4D97-AF65-F5344CB8AC3E}">
        <p14:creationId xmlns:p14="http://schemas.microsoft.com/office/powerpoint/2010/main" val="2043920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BA0BE-21F6-DCB5-5C73-6C99F80F3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D3CD5E-0C59-85E2-C318-58F355E93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987688"/>
            <a:ext cx="8212154" cy="5870311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071B4CFD-8BC8-8908-1E8B-F1D5F8912492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4ABED8F6-F421-11AC-FAF8-EF2682CC0FEE}"/>
              </a:ext>
            </a:extLst>
          </p:cNvPr>
          <p:cNvSpPr txBox="1"/>
          <p:nvPr/>
        </p:nvSpPr>
        <p:spPr>
          <a:xfrm>
            <a:off x="2777658" y="-10754"/>
            <a:ext cx="8144447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vanuit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SQLite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inladen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368ED2A9-2761-DBBD-962E-ED7112ED324B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3B0FBDD-1342-0644-367C-FC6114D72FF9}"/>
              </a:ext>
            </a:extLst>
          </p:cNvPr>
          <p:cNvSpPr/>
          <p:nvPr/>
        </p:nvSpPr>
        <p:spPr>
          <a:xfrm>
            <a:off x="1656900" y="1257724"/>
            <a:ext cx="581025" cy="619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kstvak 10">
            <a:extLst>
              <a:ext uri="{FF2B5EF4-FFF2-40B4-BE49-F238E27FC236}">
                <a16:creationId xmlns:a16="http://schemas.microsoft.com/office/drawing/2014/main" id="{358C9082-9243-854F-4877-319CCCEC33D6}"/>
              </a:ext>
            </a:extLst>
          </p:cNvPr>
          <p:cNvSpPr txBox="1"/>
          <p:nvPr/>
        </p:nvSpPr>
        <p:spPr>
          <a:xfrm>
            <a:off x="9200444" y="1876849"/>
            <a:ext cx="2864552" cy="452431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/>
              <a:t>Power BI kan data uit een </a:t>
            </a:r>
            <a:r>
              <a:rPr lang="nl-NL" dirty="0" err="1"/>
              <a:t>SQLite</a:t>
            </a:r>
            <a:r>
              <a:rPr lang="nl-NL" dirty="0"/>
              <a:t>-database inlezen, maar niet rechtstreeks via een standaardconnector.</a:t>
            </a:r>
          </a:p>
          <a:p>
            <a:pPr lvl="0" algn="ctr">
              <a:defRPr/>
            </a:pPr>
            <a:endParaRPr lang="nl-NL" dirty="0"/>
          </a:p>
          <a:p>
            <a:pPr lvl="0" algn="ctr">
              <a:defRPr/>
            </a:pPr>
            <a:r>
              <a:rPr lang="nl-NL" dirty="0"/>
              <a:t>Je hebt er een kleine omweg voor nodig via een zogenoemde “Open Database Connectivity” (ODBC), die je eerst op je apparaat moet downloaden en installeren.</a:t>
            </a:r>
          </a:p>
          <a:p>
            <a:pPr lvl="0" algn="ctr">
              <a:defRPr/>
            </a:pPr>
            <a:endParaRPr kumimoji="0" lang="nl-NL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Hoe je dat doet, wordt uitgelegd in de handleiding op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Brigtspace</a:t>
            </a:r>
            <a:endParaRPr kumimoji="0" lang="nl-NL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0111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E96D-D04C-44F3-5E71-302AC86E6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9C51FE-858A-5758-5BA4-94D336748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910345"/>
            <a:ext cx="11052544" cy="5862988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A55F7637-18EE-3064-43B8-648D51044D08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AF3DB17F-D510-6322-EFC7-C2D09A866ED7}"/>
              </a:ext>
            </a:extLst>
          </p:cNvPr>
          <p:cNvSpPr txBox="1"/>
          <p:nvPr/>
        </p:nvSpPr>
        <p:spPr>
          <a:xfrm>
            <a:off x="2777658" y="-10754"/>
            <a:ext cx="879345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met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elkaar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verbinden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in de “model view”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3D3A63A6-4AAC-91E4-5709-B178787A055B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kstvak 10">
            <a:extLst>
              <a:ext uri="{FF2B5EF4-FFF2-40B4-BE49-F238E27FC236}">
                <a16:creationId xmlns:a16="http://schemas.microsoft.com/office/drawing/2014/main" id="{C19B315C-3321-51A7-013B-3BE2F55EDB3F}"/>
              </a:ext>
            </a:extLst>
          </p:cNvPr>
          <p:cNvSpPr txBox="1"/>
          <p:nvPr/>
        </p:nvSpPr>
        <p:spPr>
          <a:xfrm>
            <a:off x="4413956" y="992524"/>
            <a:ext cx="3541885" cy="1477328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nl-NL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“Bonus” is nog nergens mee verbonden, hoe lossen we dat op?</a:t>
            </a: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Door de juiste primaire sleutel naar de juiste vreemde sleutel te slepen</a:t>
            </a:r>
            <a:endParaRPr kumimoji="0" lang="nl-NL" sz="1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57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A2F56-4DC9-09DD-CFA2-3E6F74FAE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9285A38B-1900-AA2E-D8DE-2A7EEFF3A939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60067530-78F7-20AD-8DF9-C492DB626F5B}"/>
              </a:ext>
            </a:extLst>
          </p:cNvPr>
          <p:cNvSpPr txBox="1"/>
          <p:nvPr/>
        </p:nvSpPr>
        <p:spPr>
          <a:xfrm>
            <a:off x="2777658" y="-10754"/>
            <a:ext cx="879345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Data met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elkaar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verbinden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in de “model view”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7E5F9A93-EAF6-1BBE-62CD-F5CAC6ED3241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D32BF7-E061-23D6-D950-617A8504E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902212"/>
            <a:ext cx="11203710" cy="582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1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B3901-6A0B-97A5-369B-A31424239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71D351F-6891-5840-3AA9-C0F9A65EF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336" y="1043708"/>
            <a:ext cx="7378482" cy="4010729"/>
          </a:xfrm>
          <a:prstGeom prst="rect">
            <a:avLst/>
          </a:prstGeom>
        </p:spPr>
      </p:pic>
      <p:sp>
        <p:nvSpPr>
          <p:cNvPr id="6" name="Tekstvak 7">
            <a:extLst>
              <a:ext uri="{FF2B5EF4-FFF2-40B4-BE49-F238E27FC236}">
                <a16:creationId xmlns:a16="http://schemas.microsoft.com/office/drawing/2014/main" id="{B011C0F6-D64D-A7EF-309F-FC1AA32B7708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3FBDDB4-F69A-FF69-7DD7-C152DE81B96E}"/>
              </a:ext>
            </a:extLst>
          </p:cNvPr>
          <p:cNvSpPr txBox="1"/>
          <p:nvPr/>
        </p:nvSpPr>
        <p:spPr>
          <a:xfrm>
            <a:off x="2777658" y="-10754"/>
            <a:ext cx="879345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Als er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geen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associaties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zijn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4D56138D-F4BC-D561-8B3F-E5999B69E0CB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vak 10">
            <a:extLst>
              <a:ext uri="{FF2B5EF4-FFF2-40B4-BE49-F238E27FC236}">
                <a16:creationId xmlns:a16="http://schemas.microsoft.com/office/drawing/2014/main" id="{45FC426C-B67C-2E15-E628-A53E1931698E}"/>
              </a:ext>
            </a:extLst>
          </p:cNvPr>
          <p:cNvSpPr txBox="1"/>
          <p:nvPr/>
        </p:nvSpPr>
        <p:spPr>
          <a:xfrm>
            <a:off x="5334940" y="2551673"/>
            <a:ext cx="1956915" cy="369332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g</a:t>
            </a:r>
            <a:r>
              <a:rPr kumimoji="0" lang="nl-NL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een associatie!</a:t>
            </a:r>
            <a:endParaRPr lang="nl-N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614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0EF3-27DA-9A5F-F03D-C2B1AEADF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C05CB75C-88B6-4176-7B7F-4D081496D4E3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D0BFF9A4-2508-915C-7E75-A725965B5575}"/>
              </a:ext>
            </a:extLst>
          </p:cNvPr>
          <p:cNvSpPr txBox="1"/>
          <p:nvPr/>
        </p:nvSpPr>
        <p:spPr>
          <a:xfrm>
            <a:off x="2777658" y="-10754"/>
            <a:ext cx="879345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Als er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geen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associaties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zijn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…</a:t>
            </a: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A57E8F9D-6172-CAA4-6FB0-8748D20C84B0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0906784-EBF1-D0B1-7A5D-4C63CA42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90" y="992524"/>
            <a:ext cx="6947799" cy="5780807"/>
          </a:xfrm>
          <a:prstGeom prst="rect">
            <a:avLst/>
          </a:prstGeom>
        </p:spPr>
      </p:pic>
      <p:sp>
        <p:nvSpPr>
          <p:cNvPr id="2" name="Tekstvak 10">
            <a:extLst>
              <a:ext uri="{FF2B5EF4-FFF2-40B4-BE49-F238E27FC236}">
                <a16:creationId xmlns:a16="http://schemas.microsoft.com/office/drawing/2014/main" id="{826EAB30-8E49-79A2-EA74-FA09551E0226}"/>
              </a:ext>
            </a:extLst>
          </p:cNvPr>
          <p:cNvSpPr txBox="1"/>
          <p:nvPr/>
        </p:nvSpPr>
        <p:spPr>
          <a:xfrm>
            <a:off x="7936089" y="992524"/>
            <a:ext cx="4255911" cy="590931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Verkopen kunnen niet gesplitst worden per product, omdat Power BI niet weet welke kolom uit de ene tabel (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Product.Category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) hoort bij welke kolom uit de andere tabel (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Sales_Order_item.Quantity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).</a:t>
            </a: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Dit is óók het geval als er tussen twee tabellen een meer-op-meer-associatie is.</a:t>
            </a: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Hierdoor wordt er beweerd dat er van elke productcategorie precies evenveel is verkocht (1.103 stuks)</a:t>
            </a: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Als er meerdere staven / datapunten exact dezelfde hoogte hebben, is dat een mogelijke “bad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smell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”.</a:t>
            </a:r>
          </a:p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Je moet dan in je Datawarehouse nakijken of dat daadwerkelijk het geval is.</a:t>
            </a:r>
            <a:endParaRPr lang="nl-NL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81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EB24-1856-7063-EC25-73B7058DE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E2C13CA7-149F-BF5C-3F1D-E82AA53D51B5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A3090C8F-CA3D-EF2D-365B-D9850E057A18}"/>
              </a:ext>
            </a:extLst>
          </p:cNvPr>
          <p:cNvSpPr txBox="1"/>
          <p:nvPr/>
        </p:nvSpPr>
        <p:spPr>
          <a:xfrm>
            <a:off x="2777658" y="-10754"/>
            <a:ext cx="879345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Associaties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&amp;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Filterrichtingen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7741AAF7-8280-6CD6-A773-B4F3D9C5232D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E2EC363-F875-6B70-B5BC-7D70C8B25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179" y="992524"/>
            <a:ext cx="6759526" cy="39520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4D954A5-715F-6EAA-AB18-B90862983AD8}"/>
              </a:ext>
            </a:extLst>
          </p:cNvPr>
          <p:cNvSpPr/>
          <p:nvPr/>
        </p:nvSpPr>
        <p:spPr>
          <a:xfrm>
            <a:off x="6354897" y="2284027"/>
            <a:ext cx="316090" cy="684501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vak 10">
            <a:extLst>
              <a:ext uri="{FF2B5EF4-FFF2-40B4-BE49-F238E27FC236}">
                <a16:creationId xmlns:a16="http://schemas.microsoft.com/office/drawing/2014/main" id="{E9ACC9A8-1075-EA84-C22F-8F6A7D2D31DC}"/>
              </a:ext>
            </a:extLst>
          </p:cNvPr>
          <p:cNvSpPr txBox="1"/>
          <p:nvPr/>
        </p:nvSpPr>
        <p:spPr>
          <a:xfrm>
            <a:off x="988290" y="5445035"/>
            <a:ext cx="11203710" cy="1200329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nl-NL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pijl geeft in Power-BI-datamodellen de filterrichting aan.</a:t>
            </a:r>
          </a:p>
          <a:p>
            <a:pPr lvl="0" algn="ctr">
              <a:defRPr/>
            </a:pPr>
            <a:endParaRPr lang="nl-NL" dirty="0">
              <a:solidFill>
                <a:prstClr val="black"/>
              </a:solidFill>
              <a:latin typeface="Calibri" panose="020F0502020204030204"/>
            </a:endParaRPr>
          </a:p>
          <a:p>
            <a:pPr lvl="0" algn="ctr">
              <a:defRPr/>
            </a:pPr>
            <a:r>
              <a:rPr kumimoji="0" lang="nl-NL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Een selectie in de </a:t>
            </a:r>
            <a:r>
              <a:rPr lang="nl-NL" dirty="0">
                <a:solidFill>
                  <a:prstClr val="black"/>
                </a:solidFill>
              </a:rPr>
              <a:t>tabel “Product” bepaalt welke rijen in ”</a:t>
            </a:r>
            <a:r>
              <a:rPr lang="nl-NL" dirty="0" err="1">
                <a:solidFill>
                  <a:prstClr val="black"/>
                </a:solidFill>
              </a:rPr>
              <a:t>Sales_Order_Item</a:t>
            </a:r>
            <a:r>
              <a:rPr lang="nl-NL" dirty="0">
                <a:solidFill>
                  <a:prstClr val="black"/>
                </a:solidFill>
              </a:rPr>
              <a:t>” nog zichtbaar zijn voor berekeningen en visualisaties.</a:t>
            </a:r>
          </a:p>
        </p:txBody>
      </p:sp>
    </p:spTree>
    <p:extLst>
      <p:ext uri="{BB962C8B-B14F-4D97-AF65-F5344CB8AC3E}">
        <p14:creationId xmlns:p14="http://schemas.microsoft.com/office/powerpoint/2010/main" val="2509448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C809-2278-9F44-10D8-CA7804442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>
            <a:extLst>
              <a:ext uri="{FF2B5EF4-FFF2-40B4-BE49-F238E27FC236}">
                <a16:creationId xmlns:a16="http://schemas.microsoft.com/office/drawing/2014/main" id="{8194E52B-1C23-4DC6-1321-1525556E6D1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1082F054-55F1-EECE-9903-9FDE4CD73D44}"/>
              </a:ext>
            </a:extLst>
          </p:cNvPr>
          <p:cNvSpPr txBox="1"/>
          <p:nvPr/>
        </p:nvSpPr>
        <p:spPr>
          <a:xfrm>
            <a:off x="988290" y="-10754"/>
            <a:ext cx="11203710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eaLnBrk="0" fontAlgn="base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</a:pP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Associaties</a:t>
            </a:r>
            <a:r>
              <a:rPr lang="en-US" sz="3000" b="1" dirty="0">
                <a:solidFill>
                  <a:srgbClr val="829C30"/>
                </a:solidFill>
                <a:latin typeface="Arial"/>
                <a:ea typeface="MS PGothic" charset="0"/>
              </a:rPr>
              <a:t> &amp; </a:t>
            </a:r>
            <a:r>
              <a:rPr lang="en-US" sz="3000" b="1" dirty="0" err="1">
                <a:solidFill>
                  <a:srgbClr val="829C30"/>
                </a:solidFill>
                <a:latin typeface="Arial"/>
                <a:ea typeface="MS PGothic" charset="0"/>
              </a:rPr>
              <a:t>Filterrichtingen</a:t>
            </a:r>
            <a:endParaRPr lang="en-US" sz="3000" b="1" dirty="0">
              <a:solidFill>
                <a:srgbClr val="829C30"/>
              </a:solidFill>
              <a:latin typeface="Arial"/>
              <a:ea typeface="MS PGothic" charset="0"/>
            </a:endParaRPr>
          </a:p>
        </p:txBody>
      </p:sp>
      <p:cxnSp>
        <p:nvCxnSpPr>
          <p:cNvPr id="8" name="Straight Connector 10">
            <a:extLst>
              <a:ext uri="{FF2B5EF4-FFF2-40B4-BE49-F238E27FC236}">
                <a16:creationId xmlns:a16="http://schemas.microsoft.com/office/drawing/2014/main" id="{F3942EDA-4547-4E88-CAAD-87A867B9D27C}"/>
              </a:ext>
            </a:extLst>
          </p:cNvPr>
          <p:cNvCxnSpPr>
            <a:cxnSpLocks/>
          </p:cNvCxnSpPr>
          <p:nvPr/>
        </p:nvCxnSpPr>
        <p:spPr>
          <a:xfrm>
            <a:off x="988290" y="812800"/>
            <a:ext cx="11203710" cy="0"/>
          </a:xfrm>
          <a:prstGeom prst="line">
            <a:avLst/>
          </a:prstGeom>
          <a:ln w="57150">
            <a:solidFill>
              <a:srgbClr val="829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kstvak 10">
            <a:extLst>
              <a:ext uri="{FF2B5EF4-FFF2-40B4-BE49-F238E27FC236}">
                <a16:creationId xmlns:a16="http://schemas.microsoft.com/office/drawing/2014/main" id="{28B88A0F-DED9-C658-1A4A-0CBC79450DF1}"/>
              </a:ext>
            </a:extLst>
          </p:cNvPr>
          <p:cNvSpPr txBox="1"/>
          <p:nvPr/>
        </p:nvSpPr>
        <p:spPr>
          <a:xfrm>
            <a:off x="7929932" y="3250063"/>
            <a:ext cx="4255911" cy="646331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Nu zijn de </a:t>
            </a:r>
            <a:r>
              <a:rPr lang="nl-NL" dirty="0" err="1">
                <a:solidFill>
                  <a:prstClr val="black"/>
                </a:solidFill>
                <a:latin typeface="Calibri" panose="020F0502020204030204"/>
              </a:rPr>
              <a:t>verkopopaantallen</a:t>
            </a:r>
            <a:r>
              <a:rPr lang="nl-NL" dirty="0">
                <a:solidFill>
                  <a:prstClr val="black"/>
                </a:solidFill>
                <a:latin typeface="Calibri" panose="020F0502020204030204"/>
              </a:rPr>
              <a:t> wél correct uitgesplitst per productcategorie!</a:t>
            </a:r>
            <a:endParaRPr lang="nl-NL" dirty="0">
              <a:solidFill>
                <a:prstClr val="black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FB485-C302-23AF-904B-853E953CF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64" y="992524"/>
            <a:ext cx="6390680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6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F651-5E7B-486B-0C60-4E0B1AF2D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E0B1C0-3D50-CC06-5CDF-EEEB527B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1364" y="638134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7C737D-49A5-4740-8401-0C4DFF2B9D4A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DAFC481E-4053-56FF-D174-67FDDFC9B69C}"/>
              </a:ext>
            </a:extLst>
          </p:cNvPr>
          <p:cNvSpPr txBox="1"/>
          <p:nvPr/>
        </p:nvSpPr>
        <p:spPr>
          <a:xfrm>
            <a:off x="3255649" y="0"/>
            <a:ext cx="6493163" cy="64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0" fontAlgn="base" latinLnBrk="0" hangingPunct="0">
              <a:lnSpc>
                <a:spcPct val="134000"/>
              </a:lnSpc>
              <a:spcBef>
                <a:spcPct val="0"/>
              </a:spcBef>
              <a:spcAft>
                <a:spcPct val="0"/>
              </a:spcAft>
              <a:buClr>
                <a:srgbClr val="080808"/>
              </a:buClr>
              <a:buSzPct val="100000"/>
              <a:buFont typeface="Times New Roman" charset="0"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Na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vandaag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829C30"/>
                </a:solidFill>
                <a:effectLst/>
                <a:uLnTx/>
                <a:uFillTx/>
                <a:latin typeface="Arial"/>
                <a:ea typeface="MS PGothic" charset="0"/>
                <a:cs typeface="+mn-cs"/>
              </a:rPr>
              <a:t>…</a:t>
            </a:r>
          </a:p>
        </p:txBody>
      </p:sp>
      <p:sp>
        <p:nvSpPr>
          <p:cNvPr id="7" name="Tekstvak 7">
            <a:extLst>
              <a:ext uri="{FF2B5EF4-FFF2-40B4-BE49-F238E27FC236}">
                <a16:creationId xmlns:a16="http://schemas.microsoft.com/office/drawing/2014/main" id="{678EF2AF-96DC-627F-272B-BD92255B76E1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Jelle van Barneveld</a:t>
            </a:r>
          </a:p>
        </p:txBody>
      </p:sp>
      <p:pic>
        <p:nvPicPr>
          <p:cNvPr id="1026" name="Picture 2" descr="Venn Diagram | DHH Resources for Teachers | UMN">
            <a:extLst>
              <a:ext uri="{FF2B5EF4-FFF2-40B4-BE49-F238E27FC236}">
                <a16:creationId xmlns:a16="http://schemas.microsoft.com/office/drawing/2014/main" id="{824C0693-D2F7-3B4B-D79E-FEA84B64D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863" y="1025768"/>
            <a:ext cx="11101137" cy="589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40F2E3-53AD-F573-8E22-E596F6553790}"/>
              </a:ext>
            </a:extLst>
          </p:cNvPr>
          <p:cNvSpPr txBox="1"/>
          <p:nvPr/>
        </p:nvSpPr>
        <p:spPr>
          <a:xfrm>
            <a:off x="3512128" y="703521"/>
            <a:ext cx="1753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Weet/ken je…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31214-D131-70D6-DAC1-DF69385B45F8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Kan je…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AD2D5C-EF1E-2E46-3D5E-C8BA4EAA8457}"/>
              </a:ext>
            </a:extLst>
          </p:cNvPr>
          <p:cNvSpPr txBox="1"/>
          <p:nvPr/>
        </p:nvSpPr>
        <p:spPr>
          <a:xfrm>
            <a:off x="5808945" y="2475078"/>
            <a:ext cx="136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 + WC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8FD6DB-E502-7ED7-1DE4-9E86F02AE961}"/>
              </a:ext>
            </a:extLst>
          </p:cNvPr>
          <p:cNvSpPr txBox="1"/>
          <p:nvPr/>
        </p:nvSpPr>
        <p:spPr>
          <a:xfrm>
            <a:off x="7671692" y="2801144"/>
            <a:ext cx="3429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Logdata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op de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manier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inladen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via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“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Gegevens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transformeren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 de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juiste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substrings </a:t>
            </a:r>
            <a:r>
              <a:rPr kumimoji="0" lang="en-US" sz="1800" b="0" i="0" u="none" strike="noStrike" kern="1200" cap="none" spc="0" normalizeH="0" noProof="0" dirty="0" err="1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extraheren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6943FEF-0985-101A-70B1-5D705D8E2AAD}"/>
              </a:ext>
            </a:extLst>
          </p:cNvPr>
          <p:cNvSpPr txBox="1">
            <a:spLocks/>
          </p:cNvSpPr>
          <p:nvPr/>
        </p:nvSpPr>
        <p:spPr>
          <a:xfrm>
            <a:off x="8601364" y="63813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7C737D-49A5-4740-8401-0C4DFF2B9D4A}" type="slidenum">
              <a:rPr lang="nl-NL" smtClean="0"/>
              <a:pPr/>
              <a:t>21</a:t>
            </a:fld>
            <a:endParaRPr lang="nl-NL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F0DAEE5E-C2FA-66A1-AA2D-45362CBD025A}"/>
              </a:ext>
            </a:extLst>
          </p:cNvPr>
          <p:cNvSpPr txBox="1"/>
          <p:nvPr/>
        </p:nvSpPr>
        <p:spPr>
          <a:xfrm rot="16200000">
            <a:off x="-760560" y="982747"/>
            <a:ext cx="2192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00" dirty="0">
                <a:solidFill>
                  <a:schemeClr val="bg1"/>
                </a:solidFill>
                <a:latin typeface="+mn-lt"/>
              </a:rPr>
              <a:t>Jelle van Barneveld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77204-411A-2D4B-83C9-4B38C2B8CC27}"/>
              </a:ext>
            </a:extLst>
          </p:cNvPr>
          <p:cNvSpPr txBox="1"/>
          <p:nvPr/>
        </p:nvSpPr>
        <p:spPr>
          <a:xfrm>
            <a:off x="8107256" y="703521"/>
            <a:ext cx="113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 je…</a:t>
            </a:r>
          </a:p>
        </p:txBody>
      </p:sp>
      <p:pic>
        <p:nvPicPr>
          <p:cNvPr id="16" name="Picture 6" descr="Smile Emoji Happy - Free vector graphic on Pixabay">
            <a:extLst>
              <a:ext uri="{FF2B5EF4-FFF2-40B4-BE49-F238E27FC236}">
                <a16:creationId xmlns:a16="http://schemas.microsoft.com/office/drawing/2014/main" id="{1EA7550B-4856-1DF3-EF14-4651CF2C4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160" y="3256876"/>
            <a:ext cx="1523028" cy="152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6">
            <a:extLst>
              <a:ext uri="{FF2B5EF4-FFF2-40B4-BE49-F238E27FC236}">
                <a16:creationId xmlns:a16="http://schemas.microsoft.com/office/drawing/2014/main" id="{231D2C17-E4ED-0F1E-5DC1-E051B0CDBBFB}"/>
              </a:ext>
            </a:extLst>
          </p:cNvPr>
          <p:cNvSpPr txBox="1"/>
          <p:nvPr/>
        </p:nvSpPr>
        <p:spPr>
          <a:xfrm>
            <a:off x="3255649" y="1329621"/>
            <a:ext cx="229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Waarvoor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Power BI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gebruikt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wordt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BF94440B-B427-1241-AD7D-CB0F5135FE43}"/>
              </a:ext>
            </a:extLst>
          </p:cNvPr>
          <p:cNvSpPr txBox="1"/>
          <p:nvPr/>
        </p:nvSpPr>
        <p:spPr>
          <a:xfrm>
            <a:off x="1795701" y="2568322"/>
            <a:ext cx="320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Hoe je ongestructureerde </a:t>
            </a:r>
            <a:r>
              <a:rPr lang="nl-NL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logdata</a:t>
            </a:r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tóch leesbaar maakt voor Power BI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51AA9-BCB3-0FB6-B4B8-6DB1A95842AD}"/>
              </a:ext>
            </a:extLst>
          </p:cNvPr>
          <p:cNvSpPr txBox="1"/>
          <p:nvPr/>
        </p:nvSpPr>
        <p:spPr>
          <a:xfrm>
            <a:off x="7041164" y="1540072"/>
            <a:ext cx="312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met de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juiste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datatypen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inladen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verbinden</a:t>
            </a:r>
            <a:r>
              <a:rPr lang="en-US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Power BI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6ED46DCC-A2C6-D2B0-9965-EF45356E1DF8}"/>
              </a:ext>
            </a:extLst>
          </p:cNvPr>
          <p:cNvSpPr txBox="1"/>
          <p:nvPr/>
        </p:nvSpPr>
        <p:spPr>
          <a:xfrm>
            <a:off x="1982407" y="3846887"/>
            <a:ext cx="2954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Hoe je je pijplijn-logs kan visualiseren in Power BI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65A6C2-611E-D34F-77F6-338FFA3ADF60}"/>
              </a:ext>
            </a:extLst>
          </p:cNvPr>
          <p:cNvSpPr txBox="1"/>
          <p:nvPr/>
        </p:nvSpPr>
        <p:spPr>
          <a:xfrm>
            <a:off x="7980646" y="4238778"/>
            <a:ext cx="2954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 verschillende manieren pijplijn-logs visualiseren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16EFFE8F-7A9D-5901-B4F4-2E400266D5FA}"/>
              </a:ext>
            </a:extLst>
          </p:cNvPr>
          <p:cNvSpPr txBox="1"/>
          <p:nvPr/>
        </p:nvSpPr>
        <p:spPr>
          <a:xfrm>
            <a:off x="2440397" y="5007352"/>
            <a:ext cx="29544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>
                <a:solidFill>
                  <a:srgbClr val="2133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 een datamodel is in Power BI en hoe je daaruit visualisatie-opties kan afleiden</a:t>
            </a:r>
            <a:endParaRPr lang="en-US" dirty="0">
              <a:solidFill>
                <a:srgbClr val="2133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1BC318-C951-23B3-3B1F-0DD71910E771}"/>
              </a:ext>
            </a:extLst>
          </p:cNvPr>
          <p:cNvSpPr txBox="1"/>
          <p:nvPr/>
        </p:nvSpPr>
        <p:spPr>
          <a:xfrm>
            <a:off x="7651000" y="5374453"/>
            <a:ext cx="2954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srgbClr val="2133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 kwaliteit van je Power-BI-datamodel controleren aan de hand van je Sterschema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133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670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f5a426-4411-422f-b9c8-9b9c919dd02d">
      <Terms xmlns="http://schemas.microsoft.com/office/infopath/2007/PartnerControls"/>
    </lcf76f155ced4ddcb4097134ff3c332f>
    <TaxCatchAll xmlns="d11bdb94-d558-4ffe-a4b0-092cbde214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69D13FFC5C7A4C8E8F8F4D202D83D0" ma:contentTypeVersion="16" ma:contentTypeDescription="Een nieuw document maken." ma:contentTypeScope="" ma:versionID="b2ec890ea17184f49c4a58d4bd1095a2">
  <xsd:schema xmlns:xsd="http://www.w3.org/2001/XMLSchema" xmlns:xs="http://www.w3.org/2001/XMLSchema" xmlns:p="http://schemas.microsoft.com/office/2006/metadata/properties" xmlns:ns2="32f5a426-4411-422f-b9c8-9b9c919dd02d" xmlns:ns3="597a471e-0b75-4fc5-bc4a-75c43d0a6ad2" xmlns:ns4="d11bdb94-d558-4ffe-a4b0-092cbde21480" targetNamespace="http://schemas.microsoft.com/office/2006/metadata/properties" ma:root="true" ma:fieldsID="f90993f1e063ba2c6886d3a92126f3a0" ns2:_="" ns3:_="" ns4:_="">
    <xsd:import namespace="32f5a426-4411-422f-b9c8-9b9c919dd02d"/>
    <xsd:import namespace="597a471e-0b75-4fc5-bc4a-75c43d0a6ad2"/>
    <xsd:import namespace="d11bdb94-d558-4ffe-a4b0-092cbde214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a426-4411-422f-b9c8-9b9c919dd0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Afbeeldingtags" ma:readOnly="false" ma:fieldId="{5cf76f15-5ced-4ddc-b409-7134ff3c332f}" ma:taxonomyMulti="true" ma:sspId="9cfe35b6-4a65-43a7-bc9f-cf1ea54c88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7a471e-0b75-4fc5-bc4a-75c43d0a6ad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1bdb94-d558-4ffe-a4b0-092cbde2148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26a33bc-5304-44c1-9510-c7646694e7db}" ma:internalName="TaxCatchAll" ma:showField="CatchAllData" ma:web="597a471e-0b75-4fc5-bc4a-75c43d0a6a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A505CF-29A5-4FA3-9E2E-509EBC2910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EBCDBB-E4E3-4523-9380-0D25C9F15902}">
  <ds:schemaRefs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d11bdb94-d558-4ffe-a4b0-092cbde21480"/>
    <ds:schemaRef ds:uri="http://purl.org/dc/elements/1.1/"/>
    <ds:schemaRef ds:uri="597a471e-0b75-4fc5-bc4a-75c43d0a6ad2"/>
    <ds:schemaRef ds:uri="32f5a426-4411-422f-b9c8-9b9c919dd02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47DDDCD-D854-4823-9DBF-B2DB034177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a426-4411-422f-b9c8-9b9c919dd02d"/>
    <ds:schemaRef ds:uri="597a471e-0b75-4fc5-bc4a-75c43d0a6ad2"/>
    <ds:schemaRef ds:uri="d11bdb94-d558-4ffe-a4b0-092cbde214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2586b9b-f867-4b3c-9363-5b435c5dbc45}" enabled="0" method="" siteId="{a2586b9b-f867-4b3c-9363-5b435c5dbc4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4714</TotalTime>
  <Words>881</Words>
  <Application>Microsoft Office PowerPoint</Application>
  <PresentationFormat>Widescreen</PresentationFormat>
  <Paragraphs>152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van Barneveld</dc:creator>
  <cp:lastModifiedBy>Jelle van Barneveld</cp:lastModifiedBy>
  <cp:revision>4</cp:revision>
  <dcterms:created xsi:type="dcterms:W3CDTF">2025-06-10T10:44:22Z</dcterms:created>
  <dcterms:modified xsi:type="dcterms:W3CDTF">2026-03-26T09:13:51Z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0x0101007769D13FFC5C7A4C8E8F8F4D202D83D0</vt:lpwstr>
  </property>
  <property fmtid="{D5CDD505-2E9C-101B-9397-08002B2CF9AE}" pid="3" name="MediaServiceImageTags">
    <vt:lpwstr/>
  </property>
</Properties>
</file>