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439" r:id="rId5"/>
    <p:sldId id="489" r:id="rId6"/>
    <p:sldId id="283" r:id="rId7"/>
    <p:sldId id="469" r:id="rId8"/>
    <p:sldId id="486" r:id="rId9"/>
    <p:sldId id="471" r:id="rId10"/>
    <p:sldId id="475" r:id="rId11"/>
    <p:sldId id="472" r:id="rId12"/>
    <p:sldId id="473" r:id="rId13"/>
    <p:sldId id="476" r:id="rId14"/>
    <p:sldId id="479" r:id="rId15"/>
    <p:sldId id="480" r:id="rId16"/>
    <p:sldId id="488" r:id="rId17"/>
    <p:sldId id="481" r:id="rId18"/>
    <p:sldId id="311" r:id="rId19"/>
    <p:sldId id="318" r:id="rId20"/>
    <p:sldId id="320" r:id="rId21"/>
    <p:sldId id="319" r:id="rId22"/>
    <p:sldId id="4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9A8257-6179-4C94-AB0E-12A1E784B511}" v="240" dt="2026-03-12T09:28:29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54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41D0E-EB88-4749-89F8-9DFB374F9C1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8B787-19A5-4841-9136-A8C6238BB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8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663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86675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4010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53726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182736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666432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05640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810437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06491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9622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3240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85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Datawarehouse Design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pic>
        <p:nvPicPr>
          <p:cNvPr id="1026" name="Picture 2" descr="Understand star schema and the importance for Power BI - Power BI |  Microsoft Learn">
            <a:extLst>
              <a:ext uri="{FF2B5EF4-FFF2-40B4-BE49-F238E27FC236}">
                <a16:creationId xmlns:a16="http://schemas.microsoft.com/office/drawing/2014/main" id="{3DC4A550-53A3-9506-C308-34ED43CB8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86" y="828314"/>
            <a:ext cx="8050343" cy="568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729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DB3ED1-9C68-BDE4-72B5-350E2AA23947}"/>
              </a:ext>
            </a:extLst>
          </p:cNvPr>
          <p:cNvSpPr txBox="1"/>
          <p:nvPr/>
        </p:nvSpPr>
        <p:spPr>
          <a:xfrm>
            <a:off x="2795291" y="1506666"/>
            <a:ext cx="3127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Wanneer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horizontaal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verticaal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samenvoegen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87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716" y="3303337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AD723B-5928-12D5-4623-9987E18E1F55}"/>
              </a:ext>
            </a:extLst>
          </p:cNvPr>
          <p:cNvSpPr txBox="1"/>
          <p:nvPr/>
        </p:nvSpPr>
        <p:spPr>
          <a:xfrm>
            <a:off x="7263744" y="1463320"/>
            <a:ext cx="309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aanbrengen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invullen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Sterschema’s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4C1EAF-3298-0A0F-EF91-19916181046E}"/>
              </a:ext>
            </a:extLst>
          </p:cNvPr>
          <p:cNvSpPr txBox="1"/>
          <p:nvPr/>
        </p:nvSpPr>
        <p:spPr>
          <a:xfrm>
            <a:off x="1302379" y="3739002"/>
            <a:ext cx="3844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afgeleide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meetwaarden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je Datawarehouse-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ontwerp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modelleert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E63516BE-310A-AB47-BBF7-40B50ED3E8B1}"/>
              </a:ext>
            </a:extLst>
          </p:cNvPr>
          <p:cNvSpPr txBox="1"/>
          <p:nvPr/>
        </p:nvSpPr>
        <p:spPr>
          <a:xfrm>
            <a:off x="7263744" y="5660257"/>
            <a:ext cx="309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Benodigde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dataflows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tussen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SDM’s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en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DWH’s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inzichtelijk maken in ETL-schema’s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B2BA858-1463-F67F-90CB-A41FF1AF2115}"/>
              </a:ext>
            </a:extLst>
          </p:cNvPr>
          <p:cNvSpPr txBox="1"/>
          <p:nvPr/>
        </p:nvSpPr>
        <p:spPr>
          <a:xfrm>
            <a:off x="3255649" y="5851225"/>
            <a:ext cx="2777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onderdelen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ETL-schema’s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bestaan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4A290-13D8-D1FE-5E8F-2643739D4DB0}"/>
              </a:ext>
            </a:extLst>
          </p:cNvPr>
          <p:cNvSpPr txBox="1"/>
          <p:nvPr/>
        </p:nvSpPr>
        <p:spPr>
          <a:xfrm>
            <a:off x="7870830" y="2702992"/>
            <a:ext cx="3091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feittabellen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aanbrengen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invullen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Sterschema’s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inclusief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verbinding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4BB83-E8BA-75F8-8DF7-40210B9B4D1E}"/>
              </a:ext>
            </a:extLst>
          </p:cNvPr>
          <p:cNvSpPr txBox="1"/>
          <p:nvPr/>
        </p:nvSpPr>
        <p:spPr>
          <a:xfrm>
            <a:off x="1691857" y="2594030"/>
            <a:ext cx="3454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meetwaarde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-transport”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uitvoeren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om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feittabellen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vullen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A8F7F30A-DE0B-8A26-62B1-EBD65CCD557E}"/>
              </a:ext>
            </a:extLst>
          </p:cNvPr>
          <p:cNvSpPr txBox="1"/>
          <p:nvPr/>
        </p:nvSpPr>
        <p:spPr>
          <a:xfrm>
            <a:off x="1994445" y="5290925"/>
            <a:ext cx="345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granulariteitsverschillen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48550-9AC3-D80E-3F19-F600B1A4AF8D}"/>
              </a:ext>
            </a:extLst>
          </p:cNvPr>
          <p:cNvSpPr txBox="1"/>
          <p:nvPr/>
        </p:nvSpPr>
        <p:spPr>
          <a:xfrm>
            <a:off x="7798397" y="4311336"/>
            <a:ext cx="309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2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manieren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ranulariteitsverschillen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afhandelen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49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9" grpId="0"/>
      <p:bldP spid="2" grpId="0"/>
      <p:bldP spid="3" grpId="0"/>
      <p:bldP spid="10" grpId="0"/>
      <p:bldP spid="12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Recap: de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datastraat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vanaf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hier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troomdiagram: Magnetische schijf 15">
            <a:extLst>
              <a:ext uri="{FF2B5EF4-FFF2-40B4-BE49-F238E27FC236}">
                <a16:creationId xmlns:a16="http://schemas.microsoft.com/office/drawing/2014/main" id="{48A03D8E-C84D-6840-B085-A340F1EBE26E}"/>
              </a:ext>
            </a:extLst>
          </p:cNvPr>
          <p:cNvSpPr/>
          <p:nvPr/>
        </p:nvSpPr>
        <p:spPr>
          <a:xfrm>
            <a:off x="6245290" y="1492900"/>
            <a:ext cx="3757127" cy="419768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Data</a:t>
            </a:r>
          </a:p>
          <a:p>
            <a:pPr algn="ctr"/>
            <a:r>
              <a:rPr lang="nl-NL" dirty="0"/>
              <a:t>Warehouse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Papieren schets: Sterschema</a:t>
            </a:r>
          </a:p>
          <a:p>
            <a:pPr algn="ctr"/>
            <a:r>
              <a:rPr lang="nl-NL" dirty="0"/>
              <a:t>en ETL-schema’s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58961358-F345-97E7-34FB-13AA6F96D592}"/>
              </a:ext>
            </a:extLst>
          </p:cNvPr>
          <p:cNvSpPr/>
          <p:nvPr/>
        </p:nvSpPr>
        <p:spPr>
          <a:xfrm>
            <a:off x="3508309" y="2341986"/>
            <a:ext cx="2052735" cy="18008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Staging</a:t>
            </a:r>
            <a:r>
              <a:rPr lang="nl-NL" dirty="0"/>
              <a:t> Area:</a:t>
            </a:r>
          </a:p>
          <a:p>
            <a:pPr algn="ctr"/>
            <a:r>
              <a:rPr lang="nl-NL" dirty="0"/>
              <a:t>ETL:</a:t>
            </a:r>
          </a:p>
          <a:p>
            <a:pPr algn="ctr"/>
            <a:r>
              <a:rPr lang="nl-NL" dirty="0"/>
              <a:t> Extract,</a:t>
            </a:r>
          </a:p>
          <a:p>
            <a:pPr algn="ctr"/>
            <a:r>
              <a:rPr lang="nl-NL" dirty="0" err="1"/>
              <a:t>Transform</a:t>
            </a:r>
            <a:endParaRPr lang="nl-NL" dirty="0"/>
          </a:p>
          <a:p>
            <a:pPr algn="ctr"/>
            <a:r>
              <a:rPr lang="nl-NL" dirty="0"/>
              <a:t>Load</a:t>
            </a:r>
          </a:p>
        </p:txBody>
      </p: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B8E69265-6687-21D6-0844-018B97C735C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561044" y="3242387"/>
            <a:ext cx="684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29EBDD41-9C28-1258-8B34-EAADD72F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733" y="1548727"/>
            <a:ext cx="853514" cy="1158340"/>
          </a:xfrm>
          <a:prstGeom prst="rect">
            <a:avLst/>
          </a:prstGeom>
        </p:spPr>
      </p:pic>
      <p:pic>
        <p:nvPicPr>
          <p:cNvPr id="40" name="Afbeelding 39">
            <a:extLst>
              <a:ext uri="{FF2B5EF4-FFF2-40B4-BE49-F238E27FC236}">
                <a16:creationId xmlns:a16="http://schemas.microsoft.com/office/drawing/2014/main" id="{33885528-C11D-C56C-AF15-AED578A1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733" y="3012573"/>
            <a:ext cx="853514" cy="1158340"/>
          </a:xfrm>
          <a:prstGeom prst="rect">
            <a:avLst/>
          </a:prstGeom>
        </p:spPr>
      </p:pic>
      <p:pic>
        <p:nvPicPr>
          <p:cNvPr id="41" name="Afbeelding 40">
            <a:extLst>
              <a:ext uri="{FF2B5EF4-FFF2-40B4-BE49-F238E27FC236}">
                <a16:creationId xmlns:a16="http://schemas.microsoft.com/office/drawing/2014/main" id="{BDD06033-004A-9A92-4420-A04586BCC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733" y="4493704"/>
            <a:ext cx="853514" cy="1158340"/>
          </a:xfrm>
          <a:prstGeom prst="rect">
            <a:avLst/>
          </a:prstGeom>
        </p:spPr>
      </p:pic>
      <p:cxnSp>
        <p:nvCxnSpPr>
          <p:cNvPr id="43" name="Rechte verbindingslijn met pijl 42">
            <a:extLst>
              <a:ext uri="{FF2B5EF4-FFF2-40B4-BE49-F238E27FC236}">
                <a16:creationId xmlns:a16="http://schemas.microsoft.com/office/drawing/2014/main" id="{D24EF0A2-A475-794D-CACF-37335B33DAD5}"/>
              </a:ext>
            </a:extLst>
          </p:cNvPr>
          <p:cNvCxnSpPr>
            <a:cxnSpLocks/>
            <a:stCxn id="16" idx="4"/>
            <a:endCxn id="39" idx="1"/>
          </p:cNvCxnSpPr>
          <p:nvPr/>
        </p:nvCxnSpPr>
        <p:spPr>
          <a:xfrm flipV="1">
            <a:off x="10002417" y="2127897"/>
            <a:ext cx="845316" cy="1463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CF2DC44D-351C-15E6-F710-D851EDCF9D33}"/>
              </a:ext>
            </a:extLst>
          </p:cNvPr>
          <p:cNvCxnSpPr>
            <a:cxnSpLocks/>
            <a:stCxn id="16" idx="4"/>
            <a:endCxn id="40" idx="1"/>
          </p:cNvCxnSpPr>
          <p:nvPr/>
        </p:nvCxnSpPr>
        <p:spPr>
          <a:xfrm flipV="1">
            <a:off x="10002417" y="3591743"/>
            <a:ext cx="8453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met pijl 48">
            <a:extLst>
              <a:ext uri="{FF2B5EF4-FFF2-40B4-BE49-F238E27FC236}">
                <a16:creationId xmlns:a16="http://schemas.microsoft.com/office/drawing/2014/main" id="{36A8ABF4-FB2B-288A-41D0-64D9013332D7}"/>
              </a:ext>
            </a:extLst>
          </p:cNvPr>
          <p:cNvCxnSpPr>
            <a:cxnSpLocks/>
            <a:stCxn id="16" idx="4"/>
            <a:endCxn id="41" idx="1"/>
          </p:cNvCxnSpPr>
          <p:nvPr/>
        </p:nvCxnSpPr>
        <p:spPr>
          <a:xfrm>
            <a:off x="10002417" y="3591744"/>
            <a:ext cx="845316" cy="1481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kstvak 60">
            <a:extLst>
              <a:ext uri="{FF2B5EF4-FFF2-40B4-BE49-F238E27FC236}">
                <a16:creationId xmlns:a16="http://schemas.microsoft.com/office/drawing/2014/main" id="{2C38255C-4A2E-F477-B36F-A3CEA35659F1}"/>
              </a:ext>
            </a:extLst>
          </p:cNvPr>
          <p:cNvSpPr txBox="1"/>
          <p:nvPr/>
        </p:nvSpPr>
        <p:spPr>
          <a:xfrm>
            <a:off x="988290" y="6359757"/>
            <a:ext cx="2636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Source Data Model (SDM)</a:t>
            </a: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4369CF7B-3FB4-8732-F8C3-91CEEF47E78B}"/>
              </a:ext>
            </a:extLst>
          </p:cNvPr>
          <p:cNvSpPr txBox="1"/>
          <p:nvPr/>
        </p:nvSpPr>
        <p:spPr>
          <a:xfrm>
            <a:off x="3992547" y="6359757"/>
            <a:ext cx="1772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dirty="0" err="1"/>
              <a:t>Denormalisering</a:t>
            </a:r>
            <a:endParaRPr lang="nl-NL" b="1" dirty="0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A48954E2-EDAE-037A-9FD3-DFD253FD462B}"/>
              </a:ext>
            </a:extLst>
          </p:cNvPr>
          <p:cNvSpPr txBox="1"/>
          <p:nvPr/>
        </p:nvSpPr>
        <p:spPr>
          <a:xfrm>
            <a:off x="6865176" y="6364222"/>
            <a:ext cx="2036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dirty="0" err="1"/>
              <a:t>Gedenormaliseerd</a:t>
            </a:r>
            <a:endParaRPr lang="nl-NL" b="1" dirty="0"/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F2C78264-3A9F-2788-A1F7-F14565D8A77B}"/>
              </a:ext>
            </a:extLst>
          </p:cNvPr>
          <p:cNvSpPr txBox="1"/>
          <p:nvPr/>
        </p:nvSpPr>
        <p:spPr>
          <a:xfrm>
            <a:off x="10155773" y="6364222"/>
            <a:ext cx="2036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dirty="0"/>
              <a:t>Gevisualiseerd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7B975-F858-F9DC-D6C4-97E128530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698" y="2424403"/>
            <a:ext cx="1392097" cy="1635968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DCF1C6E-5E58-073E-97DE-889CC4AD842C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>
            <a:off x="2654795" y="3242387"/>
            <a:ext cx="853514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74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AB500-C2A8-9F35-61A0-2E7C1E69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CAB91F1-1DE4-9AD5-1137-FC9069028B2D}"/>
              </a:ext>
            </a:extLst>
          </p:cNvPr>
          <p:cNvSpPr txBox="1"/>
          <p:nvPr/>
        </p:nvSpPr>
        <p:spPr>
          <a:xfrm>
            <a:off x="653074" y="-94578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Data Warehouse (DWH)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6E1961B9-D71A-D109-AB13-A1AB0F028167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80DF5-7761-5804-DAD1-9968FF29509D}"/>
              </a:ext>
            </a:extLst>
          </p:cNvPr>
          <p:cNvSpPr txBox="1"/>
          <p:nvPr/>
        </p:nvSpPr>
        <p:spPr>
          <a:xfrm>
            <a:off x="9075770" y="3429000"/>
            <a:ext cx="272244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Dit is het eindproduct: een datawarehouse op basis waarvan datadashboards gevuld kunnen worden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06A8A3-6ECE-FAE2-B591-1EDEF480E662}"/>
              </a:ext>
            </a:extLst>
          </p:cNvPr>
          <p:cNvSpPr txBox="1"/>
          <p:nvPr/>
        </p:nvSpPr>
        <p:spPr>
          <a:xfrm>
            <a:off x="9075770" y="1843155"/>
            <a:ext cx="272244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Inmiddels is de structuur geschikt gemaakt voor analyse d.m.v. </a:t>
            </a:r>
            <a:r>
              <a:rPr kumimoji="0" lang="nl-NL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dimensioneel modelleren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16F0C0-16C1-7FAB-7BC9-6F81C4145422}"/>
              </a:ext>
            </a:extLst>
          </p:cNvPr>
          <p:cNvSpPr txBox="1"/>
          <p:nvPr/>
        </p:nvSpPr>
        <p:spPr>
          <a:xfrm>
            <a:off x="9075769" y="5332345"/>
            <a:ext cx="272244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 gaat van SDM naar DWH door</a:t>
            </a:r>
            <a:r>
              <a:rPr kumimoji="0" lang="nl-NL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SDM-</a:t>
            </a:r>
            <a:r>
              <a:rPr kumimoji="0" lang="nl-NL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tabelle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n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horizontaal</a:t>
            </a: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én </a:t>
            </a:r>
            <a:r>
              <a:rPr kumimoji="0" lang="nl-NL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verticaal</a:t>
            </a:r>
            <a:r>
              <a:rPr kumimoji="0" lang="nl-NL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samen te voegen.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908F1A-63C0-95E0-05BC-80BFB7E84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83" y="811424"/>
            <a:ext cx="8011786" cy="60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0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C9C5-B316-788A-FFED-098644C7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5FF205-619E-5D41-8A92-0017FC50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54" y="2543350"/>
            <a:ext cx="4002535" cy="1621667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739C9E9-FB33-0E73-CEB0-8D669AC9F07B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Dimensiet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abellen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verticaal samenvoegen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0D908C33-DB08-D192-59D4-D19C1BEE808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19522A-E79B-8C8C-C454-06C44869D804}"/>
              </a:ext>
            </a:extLst>
          </p:cNvPr>
          <p:cNvSpPr txBox="1"/>
          <p:nvPr/>
        </p:nvSpPr>
        <p:spPr>
          <a:xfrm>
            <a:off x="2961409" y="809121"/>
            <a:ext cx="65669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“Verticaal”: j</a:t>
            </a: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zet van meerdere tabellen de rijen onder elkaar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189C2-3112-9823-1366-E64BD9FADD2D}"/>
              </a:ext>
            </a:extLst>
          </p:cNvPr>
          <p:cNvSpPr txBox="1"/>
          <p:nvPr/>
        </p:nvSpPr>
        <p:spPr>
          <a:xfrm>
            <a:off x="3940128" y="5780782"/>
            <a:ext cx="1543173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DWH, nu kan ik per datum </a:t>
            </a:r>
            <a:r>
              <a:rPr kumimoji="0" lang="nl-NL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 activiteiten</a:t>
            </a:r>
            <a:r>
              <a:rPr kumimoji="0" lang="nl-NL" sz="16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zien!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84B6A7-A35D-694A-B911-7D847012B6B0}"/>
              </a:ext>
            </a:extLst>
          </p:cNvPr>
          <p:cNvSpPr/>
          <p:nvPr/>
        </p:nvSpPr>
        <p:spPr>
          <a:xfrm>
            <a:off x="1282208" y="2476137"/>
            <a:ext cx="4166754" cy="184340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E8CDC8-54C9-E9D6-A4E2-69C29A26BC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257543" y="4319543"/>
            <a:ext cx="0" cy="141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88C12EC-13A2-30C7-DAB8-04F67EDCD4A6}"/>
              </a:ext>
            </a:extLst>
          </p:cNvPr>
          <p:cNvSpPr txBox="1"/>
          <p:nvPr/>
        </p:nvSpPr>
        <p:spPr>
          <a:xfrm>
            <a:off x="988290" y="1205551"/>
            <a:ext cx="510770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Nieuwe dimensietabel: “datum”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dirty="0">
                <a:solidFill>
                  <a:prstClr val="black"/>
                </a:solidFill>
                <a:latin typeface="Calibri" panose="020F0502020204030204"/>
              </a:rPr>
              <a:t>Deze zit niet in operationele databases of </a:t>
            </a:r>
            <a:r>
              <a:rPr lang="nl-NL" sz="2000" dirty="0" err="1">
                <a:solidFill>
                  <a:prstClr val="black"/>
                </a:solidFill>
                <a:latin typeface="Calibri" panose="020F0502020204030204"/>
              </a:rPr>
              <a:t>SDM’s</a:t>
            </a:r>
            <a:r>
              <a:rPr lang="nl-NL" sz="2000" dirty="0">
                <a:solidFill>
                  <a:prstClr val="black"/>
                </a:solidFill>
                <a:latin typeface="Calibri" panose="020F0502020204030204"/>
              </a:rPr>
              <a:t>, maar komt er in </a:t>
            </a:r>
            <a:r>
              <a:rPr lang="nl-NL" sz="2000" dirty="0" err="1">
                <a:solidFill>
                  <a:prstClr val="black"/>
                </a:solidFill>
                <a:latin typeface="Calibri" panose="020F0502020204030204"/>
              </a:rPr>
              <a:t>DWH’s</a:t>
            </a:r>
            <a:r>
              <a:rPr lang="nl-NL" sz="2000" dirty="0">
                <a:solidFill>
                  <a:prstClr val="black"/>
                </a:solidFill>
                <a:latin typeface="Calibri" panose="020F0502020204030204"/>
              </a:rPr>
              <a:t> extra bij.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FCC968-B3A3-B03A-20FD-9CC34F44B5A1}"/>
              </a:ext>
            </a:extLst>
          </p:cNvPr>
          <p:cNvSpPr txBox="1"/>
          <p:nvPr/>
        </p:nvSpPr>
        <p:spPr>
          <a:xfrm>
            <a:off x="6190666" y="1202334"/>
            <a:ext cx="600133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Dezelfde dimensies uit verschillende databases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Straight Connector 10">
            <a:extLst>
              <a:ext uri="{FF2B5EF4-FFF2-40B4-BE49-F238E27FC236}">
                <a16:creationId xmlns:a16="http://schemas.microsoft.com/office/drawing/2014/main" id="{65D9B5C8-12B4-F989-767E-8E063B4AA9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0">
            <a:extLst>
              <a:ext uri="{FF2B5EF4-FFF2-40B4-BE49-F238E27FC236}">
                <a16:creationId xmlns:a16="http://schemas.microsoft.com/office/drawing/2014/main" id="{366DC0C7-EC03-54EF-D422-37AB1692B1B3}"/>
              </a:ext>
            </a:extLst>
          </p:cNvPr>
          <p:cNvCxnSpPr>
            <a:cxnSpLocks/>
          </p:cNvCxnSpPr>
          <p:nvPr/>
        </p:nvCxnSpPr>
        <p:spPr>
          <a:xfrm>
            <a:off x="988290" y="1178453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E8B50590-0C16-7D70-B4A9-585C051A471F}"/>
              </a:ext>
            </a:extLst>
          </p:cNvPr>
          <p:cNvCxnSpPr>
            <a:cxnSpLocks/>
          </p:cNvCxnSpPr>
          <p:nvPr/>
        </p:nvCxnSpPr>
        <p:spPr>
          <a:xfrm flipV="1">
            <a:off x="6190665" y="1167413"/>
            <a:ext cx="0" cy="5679547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74FBA1-5D65-6B75-2142-06B48E6A3B6B}"/>
              </a:ext>
            </a:extLst>
          </p:cNvPr>
          <p:cNvSpPr txBox="1"/>
          <p:nvPr/>
        </p:nvSpPr>
        <p:spPr>
          <a:xfrm>
            <a:off x="1269417" y="4396708"/>
            <a:ext cx="128962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Deze klasse heeft een “</a:t>
            </a:r>
            <a:r>
              <a:rPr lang="nl-NL" sz="1600" dirty="0" err="1">
                <a:solidFill>
                  <a:prstClr val="black"/>
                </a:solidFill>
                <a:latin typeface="Calibri" panose="020F0502020204030204"/>
              </a:rPr>
              <a:t>order_date</a:t>
            </a: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F3BE7-75B0-5202-7214-2B1DD4E74CED}"/>
              </a:ext>
            </a:extLst>
          </p:cNvPr>
          <p:cNvSpPr txBox="1"/>
          <p:nvPr/>
        </p:nvSpPr>
        <p:spPr>
          <a:xfrm>
            <a:off x="4069322" y="4365705"/>
            <a:ext cx="1387081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Deze klasse heeft een “</a:t>
            </a:r>
            <a:r>
              <a:rPr lang="nl-NL" sz="1600" dirty="0" err="1">
                <a:solidFill>
                  <a:prstClr val="black"/>
                </a:solidFill>
                <a:latin typeface="Calibri" panose="020F0502020204030204"/>
              </a:rPr>
              <a:t>bonus_date</a:t>
            </a: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B3AF29-CE04-FE27-65B2-41E0FA8E9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820" y="5735685"/>
            <a:ext cx="975445" cy="103641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0FF1652-6CED-1AE4-E584-CBEA4FC0A883}"/>
              </a:ext>
            </a:extLst>
          </p:cNvPr>
          <p:cNvSpPr/>
          <p:nvPr/>
        </p:nvSpPr>
        <p:spPr>
          <a:xfrm>
            <a:off x="6422537" y="1828206"/>
            <a:ext cx="5438293" cy="220771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0ED95A-B920-A55C-AF97-9A237E28A028}"/>
              </a:ext>
            </a:extLst>
          </p:cNvPr>
          <p:cNvCxnSpPr>
            <a:cxnSpLocks/>
          </p:cNvCxnSpPr>
          <p:nvPr/>
        </p:nvCxnSpPr>
        <p:spPr>
          <a:xfrm>
            <a:off x="7466832" y="4000292"/>
            <a:ext cx="0" cy="585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29BB0012-7589-2972-A7A7-CCBEA51B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392" y="2023614"/>
            <a:ext cx="5291767" cy="173374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B22D13B-96ED-1991-28B1-E63A476A4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408" y="4585437"/>
            <a:ext cx="1203451" cy="209110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043C07D-407B-9F9B-D391-1D13F8A5FB76}"/>
              </a:ext>
            </a:extLst>
          </p:cNvPr>
          <p:cNvSpPr txBox="1"/>
          <p:nvPr/>
        </p:nvSpPr>
        <p:spPr>
          <a:xfrm>
            <a:off x="8287610" y="4109887"/>
            <a:ext cx="3750860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nl-NL" sz="1600" dirty="0">
                <a:solidFill>
                  <a:prstClr val="black"/>
                </a:solidFill>
              </a:rPr>
              <a:t>Is de </a:t>
            </a:r>
            <a:r>
              <a:rPr lang="nl-NL" sz="1600" dirty="0" err="1">
                <a:solidFill>
                  <a:prstClr val="black"/>
                </a:solidFill>
              </a:rPr>
              <a:t>multipliciteit</a:t>
            </a:r>
            <a:r>
              <a:rPr lang="nl-NL" sz="1600" dirty="0">
                <a:solidFill>
                  <a:prstClr val="black"/>
                </a:solidFill>
              </a:rPr>
              <a:t> aan één </a:t>
            </a:r>
            <a:r>
              <a:rPr lang="en-US" sz="1600" dirty="0" err="1">
                <a:solidFill>
                  <a:prstClr val="black"/>
                </a:solidFill>
              </a:rPr>
              <a:t>kant</a:t>
            </a:r>
            <a:r>
              <a:rPr lang="en-US" sz="1600" dirty="0">
                <a:solidFill>
                  <a:prstClr val="black"/>
                </a:solidFill>
              </a:rPr>
              <a:t> 1</a:t>
            </a:r>
            <a:r>
              <a:rPr lang="nl-NL" sz="1600" dirty="0">
                <a:solidFill>
                  <a:prstClr val="black"/>
                </a:solidFill>
              </a:rPr>
              <a:t>?</a:t>
            </a:r>
          </a:p>
          <a:p>
            <a:pPr lvl="0"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Dan</a:t>
            </a:r>
            <a:r>
              <a:rPr kumimoji="0" lang="nl-NL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is verticaal samenvoegen niet nodig!</a:t>
            </a: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Is de </a:t>
            </a:r>
            <a:r>
              <a:rPr lang="nl-NL" sz="1600" dirty="0" err="1">
                <a:solidFill>
                  <a:prstClr val="black"/>
                </a:solidFill>
                <a:latin typeface="Calibri" panose="020F0502020204030204"/>
              </a:rPr>
              <a:t>multipliciteit</a:t>
            </a: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 aan beide kanten 0..1?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Dan moet je verticaal samenvoegen!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Laad van elke brontabel álle medewerkers in.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Houd </a:t>
            </a: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lleen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unieke medewerkers over: elke medewerker mag dus maar één keer</a:t>
            </a:r>
            <a:r>
              <a:rPr kumimoji="0" lang="nl-NL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voorkomen.</a:t>
            </a:r>
          </a:p>
        </p:txBody>
      </p:sp>
    </p:spTree>
    <p:extLst>
      <p:ext uri="{BB962C8B-B14F-4D97-AF65-F5344CB8AC3E}">
        <p14:creationId xmlns:p14="http://schemas.microsoft.com/office/powerpoint/2010/main" val="708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24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25A9-C91D-175E-B05D-F8BC1645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44004DA-AC27-3D5A-48D3-375E47674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638" y="2174368"/>
            <a:ext cx="3787468" cy="1623201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01BC2F09-33E6-B2D7-66A8-82FA15B5FC45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Dimensiet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abellen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horizontaal samenvoegen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1804EFC2-631C-C1E9-5E64-EEDBA4B0CE3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4204C9-DAC6-6553-FE3B-4EA0F23ABBC9}"/>
              </a:ext>
            </a:extLst>
          </p:cNvPr>
          <p:cNvSpPr/>
          <p:nvPr/>
        </p:nvSpPr>
        <p:spPr>
          <a:xfrm>
            <a:off x="7162519" y="2035751"/>
            <a:ext cx="4166754" cy="184340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31689E-C184-863B-8135-5A70B9113CB4}"/>
              </a:ext>
            </a:extLst>
          </p:cNvPr>
          <p:cNvSpPr txBox="1"/>
          <p:nvPr/>
        </p:nvSpPr>
        <p:spPr>
          <a:xfrm>
            <a:off x="2961409" y="809121"/>
            <a:ext cx="65669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“Horizontaal”: j</a:t>
            </a: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joint met meerdere tabellen.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9C4DC-9E97-4A51-F7CE-4537E8FAA3CB}"/>
              </a:ext>
            </a:extLst>
          </p:cNvPr>
          <p:cNvSpPr txBox="1"/>
          <p:nvPr/>
        </p:nvSpPr>
        <p:spPr>
          <a:xfrm>
            <a:off x="1441034" y="5105240"/>
            <a:ext cx="75495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DWH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F7E9F-5973-1E10-4E20-61CA7D0C4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72" y="2201041"/>
            <a:ext cx="3581710" cy="1569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CAD503-A99F-19E8-2B88-6F222321DCA2}"/>
              </a:ext>
            </a:extLst>
          </p:cNvPr>
          <p:cNvSpPr txBox="1"/>
          <p:nvPr/>
        </p:nvSpPr>
        <p:spPr>
          <a:xfrm>
            <a:off x="3294233" y="3329048"/>
            <a:ext cx="100162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SDM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1CF39-E599-C3C0-1FF3-AC8AE9ED9F31}"/>
              </a:ext>
            </a:extLst>
          </p:cNvPr>
          <p:cNvSpPr/>
          <p:nvPr/>
        </p:nvSpPr>
        <p:spPr>
          <a:xfrm>
            <a:off x="1146531" y="2035751"/>
            <a:ext cx="4166754" cy="184340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3F69B-B3EE-C58F-A8BE-A829012DAAAB}"/>
              </a:ext>
            </a:extLst>
          </p:cNvPr>
          <p:cNvSpPr txBox="1"/>
          <p:nvPr/>
        </p:nvSpPr>
        <p:spPr>
          <a:xfrm>
            <a:off x="8745083" y="3274153"/>
            <a:ext cx="100162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SDM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40D487-5A06-3EF0-0420-DE5A6AFB9CE9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121866" y="3936187"/>
            <a:ext cx="0" cy="418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B550417-EA6B-AAFC-8EFF-8FEB1A9C3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800" y="4354465"/>
            <a:ext cx="1074513" cy="2408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F6E9C0-C57B-ED24-F4FC-8F8E2E1EA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472" y="4802481"/>
            <a:ext cx="998307" cy="18899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725A8E-157C-884D-429F-C142165D3FA0}"/>
              </a:ext>
            </a:extLst>
          </p:cNvPr>
          <p:cNvSpPr txBox="1"/>
          <p:nvPr/>
        </p:nvSpPr>
        <p:spPr>
          <a:xfrm>
            <a:off x="988290" y="1205551"/>
            <a:ext cx="510770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 dimensies uit dezelfde database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63CA0-9FD5-6C98-B6F0-3BD44154133A}"/>
              </a:ext>
            </a:extLst>
          </p:cNvPr>
          <p:cNvSpPr txBox="1"/>
          <p:nvPr/>
        </p:nvSpPr>
        <p:spPr>
          <a:xfrm>
            <a:off x="6724067" y="1192535"/>
            <a:ext cx="520237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Dezelfde dimensies uit verschillende databases </a:t>
            </a:r>
            <a:r>
              <a:rPr kumimoji="0" lang="nl-NL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 verschillende kolommen hebben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374ACC-866E-1EE5-6B6C-7984602F7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657" y="2092441"/>
            <a:ext cx="922100" cy="169754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E5FCB8-2E1B-7B6D-4D7D-ABACD1FCE147}"/>
              </a:ext>
            </a:extLst>
          </p:cNvPr>
          <p:cNvSpPr txBox="1"/>
          <p:nvPr/>
        </p:nvSpPr>
        <p:spPr>
          <a:xfrm>
            <a:off x="7076195" y="3959795"/>
            <a:ext cx="123652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“</a:t>
            </a:r>
            <a:r>
              <a:rPr lang="nl-NL" sz="1600" dirty="0" err="1">
                <a:solidFill>
                  <a:prstClr val="black"/>
                </a:solidFill>
                <a:latin typeface="Calibri" panose="020F0502020204030204"/>
              </a:rPr>
              <a:t>birth_date</a:t>
            </a: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” komt alleen hier voor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9095DE-7C16-8273-044F-FC2160D7FB73}"/>
              </a:ext>
            </a:extLst>
          </p:cNvPr>
          <p:cNvSpPr txBox="1"/>
          <p:nvPr/>
        </p:nvSpPr>
        <p:spPr>
          <a:xfrm>
            <a:off x="10092746" y="3925320"/>
            <a:ext cx="123652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“</a:t>
            </a:r>
            <a:r>
              <a:rPr lang="nl-NL" sz="1600" dirty="0" err="1">
                <a:solidFill>
                  <a:prstClr val="black"/>
                </a:solidFill>
                <a:latin typeface="Calibri" panose="020F0502020204030204"/>
              </a:rPr>
              <a:t>sex</a:t>
            </a:r>
            <a:r>
              <a:rPr lang="nl-NL" sz="1600" dirty="0">
                <a:solidFill>
                  <a:prstClr val="black"/>
                </a:solidFill>
                <a:latin typeface="Calibri" panose="020F0502020204030204"/>
              </a:rPr>
              <a:t>” komt alleen hier voor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FF8C23-12DB-91E2-6CF4-12D34BA838A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9317625" y="3896867"/>
            <a:ext cx="1" cy="905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73FD694-8B15-D875-8CA4-1540EFBBB960}"/>
              </a:ext>
            </a:extLst>
          </p:cNvPr>
          <p:cNvSpPr txBox="1"/>
          <p:nvPr/>
        </p:nvSpPr>
        <p:spPr>
          <a:xfrm>
            <a:off x="10014208" y="5094175"/>
            <a:ext cx="1614004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DWH, “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birth_date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&amp; “</a:t>
            </a:r>
            <a:r>
              <a:rPr kumimoji="0" lang="nl-N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sex</a:t>
            </a: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moeten hier </a:t>
            </a:r>
            <a:r>
              <a:rPr kumimoji="0" lang="nl-NL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allebei</a:t>
            </a:r>
            <a:r>
              <a:rPr kumimoji="0" lang="nl-NL" sz="16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voorkomen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Straight Connector 10">
            <a:extLst>
              <a:ext uri="{FF2B5EF4-FFF2-40B4-BE49-F238E27FC236}">
                <a16:creationId xmlns:a16="http://schemas.microsoft.com/office/drawing/2014/main" id="{2198051B-93DF-814A-A175-18E34F0117DD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0">
            <a:extLst>
              <a:ext uri="{FF2B5EF4-FFF2-40B4-BE49-F238E27FC236}">
                <a16:creationId xmlns:a16="http://schemas.microsoft.com/office/drawing/2014/main" id="{108E2152-3944-393B-8146-F76EBD862CA7}"/>
              </a:ext>
            </a:extLst>
          </p:cNvPr>
          <p:cNvCxnSpPr>
            <a:cxnSpLocks/>
          </p:cNvCxnSpPr>
          <p:nvPr/>
        </p:nvCxnSpPr>
        <p:spPr>
          <a:xfrm>
            <a:off x="988290" y="1178453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C8CCBCAD-D674-6AE0-62B7-FC9F48A891DA}"/>
              </a:ext>
            </a:extLst>
          </p:cNvPr>
          <p:cNvCxnSpPr>
            <a:cxnSpLocks/>
          </p:cNvCxnSpPr>
          <p:nvPr/>
        </p:nvCxnSpPr>
        <p:spPr>
          <a:xfrm flipV="1">
            <a:off x="6190665" y="1167413"/>
            <a:ext cx="0" cy="5679547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80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  <p:bldP spid="12" grpId="0" animBg="1"/>
      <p:bldP spid="20" grpId="0" animBg="1"/>
      <p:bldP spid="27" grpId="0" animBg="1"/>
      <p:bldP spid="28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C53AC-D080-D637-9C16-7DC6DA87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D4E00EC-5401-E0B8-5502-B2ABB8BC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602" y="795453"/>
            <a:ext cx="6252629" cy="2679699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E3DBA13B-D73A-1D42-2911-E3B0F3065E91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Afgeleide dimensiewaarden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1D80DF77-09A4-1106-C71D-68E87140AA87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4A775-7AD2-6C9B-A7CA-9FF7564735CF}"/>
              </a:ext>
            </a:extLst>
          </p:cNvPr>
          <p:cNvSpPr txBox="1"/>
          <p:nvPr/>
        </p:nvSpPr>
        <p:spPr>
          <a:xfrm>
            <a:off x="1030077" y="3644322"/>
            <a:ext cx="4510957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Afgeleide dimensiewaarden zijn niet-numerieke kolommen die niét in het SDM voorkwamen, maar wel in het datawarehouse, ter bevordering van specifieke analyses.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In dit geval zijn medewerkers ingedeeld in “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salary_groups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” op basis van hun “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salary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”.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Voorbeeld: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Salary</a:t>
            </a: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&gt; 10000 =&gt; “high”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Salary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&lt;= 10000 &lt;= “low”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69BF67-FA88-18D4-6C4B-CBD76486423C}"/>
              </a:ext>
            </a:extLst>
          </p:cNvPr>
          <p:cNvSpPr txBox="1"/>
          <p:nvPr/>
        </p:nvSpPr>
        <p:spPr>
          <a:xfrm>
            <a:off x="7485904" y="4067638"/>
            <a:ext cx="3856654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Merk op dat alléén de salarisgroepen in de dimensietabel staan, niet de salarissen zelf.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Meetwaarden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nó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óit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in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dimensietabellen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Zometeen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zullen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we ze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terugzien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in de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feittabellen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E5165-5BBF-4D15-D431-3D05C707AB96}"/>
              </a:ext>
            </a:extLst>
          </p:cNvPr>
          <p:cNvSpPr txBox="1"/>
          <p:nvPr/>
        </p:nvSpPr>
        <p:spPr>
          <a:xfrm>
            <a:off x="9492444" y="1984615"/>
            <a:ext cx="100162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SDM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4C6479-DB86-7122-79A3-D2C1058D2A81}"/>
              </a:ext>
            </a:extLst>
          </p:cNvPr>
          <p:cNvSpPr txBox="1"/>
          <p:nvPr/>
        </p:nvSpPr>
        <p:spPr>
          <a:xfrm>
            <a:off x="6422537" y="3760750"/>
            <a:ext cx="75495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DWH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F82953-EAA9-9F3D-F9E3-3EC4BE56404C}"/>
              </a:ext>
            </a:extLst>
          </p:cNvPr>
          <p:cNvSpPr/>
          <p:nvPr/>
        </p:nvSpPr>
        <p:spPr>
          <a:xfrm>
            <a:off x="2964806" y="759037"/>
            <a:ext cx="6527638" cy="27897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3F4131-9DC1-AFD1-247D-CF336BEFB4B5}"/>
              </a:ext>
            </a:extLst>
          </p:cNvPr>
          <p:cNvCxnSpPr>
            <a:cxnSpLocks/>
          </p:cNvCxnSpPr>
          <p:nvPr/>
        </p:nvCxnSpPr>
        <p:spPr>
          <a:xfrm flipH="1">
            <a:off x="6287915" y="3548748"/>
            <a:ext cx="2" cy="49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2659E8B-163C-67FA-9DC4-66954E751D09}"/>
              </a:ext>
            </a:extLst>
          </p:cNvPr>
          <p:cNvSpPr/>
          <p:nvPr/>
        </p:nvSpPr>
        <p:spPr>
          <a:xfrm>
            <a:off x="3263044" y="2506227"/>
            <a:ext cx="914209" cy="2430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536C53-5AAE-541C-99A1-45C9FA0FBCEF}"/>
              </a:ext>
            </a:extLst>
          </p:cNvPr>
          <p:cNvSpPr/>
          <p:nvPr/>
        </p:nvSpPr>
        <p:spPr>
          <a:xfrm>
            <a:off x="7920661" y="2506227"/>
            <a:ext cx="914209" cy="2430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7518E5-55AF-BD04-5702-92BE4352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44" y="4027093"/>
            <a:ext cx="1359142" cy="26120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66C910-70C7-1229-2EAD-07DEBE2BCF8D}"/>
              </a:ext>
            </a:extLst>
          </p:cNvPr>
          <p:cNvSpPr/>
          <p:nvPr/>
        </p:nvSpPr>
        <p:spPr>
          <a:xfrm>
            <a:off x="5650479" y="5564921"/>
            <a:ext cx="1156292" cy="2747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8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93CB-7374-8FBB-AC33-1F137698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50521-5BB9-B0CF-A05E-76961C92C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19" y="1323829"/>
            <a:ext cx="2309845" cy="4447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8C87BD-E56F-2F76-AF7B-992D8381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547" y="2443474"/>
            <a:ext cx="1535818" cy="2232999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6172EF52-B19A-D700-699A-77F2485BA3FB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Meetwaardetransport van dimensies naar feiten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D05C6B6F-A812-3310-C7E2-D1C20B4B9168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2FC6AF-058F-B795-394B-0B256679BC2B}"/>
              </a:ext>
            </a:extLst>
          </p:cNvPr>
          <p:cNvSpPr txBox="1"/>
          <p:nvPr/>
        </p:nvSpPr>
        <p:spPr>
          <a:xfrm>
            <a:off x="1173593" y="5771302"/>
            <a:ext cx="38566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EDD6BC-3773-414A-A778-74393D82113E}"/>
              </a:ext>
            </a:extLst>
          </p:cNvPr>
          <p:cNvSpPr txBox="1"/>
          <p:nvPr/>
        </p:nvSpPr>
        <p:spPr>
          <a:xfrm>
            <a:off x="2010288" y="814553"/>
            <a:ext cx="100162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SDM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8986ED-3C34-0259-B408-3B470E14754D}"/>
              </a:ext>
            </a:extLst>
          </p:cNvPr>
          <p:cNvSpPr txBox="1"/>
          <p:nvPr/>
        </p:nvSpPr>
        <p:spPr>
          <a:xfrm>
            <a:off x="9490555" y="2094529"/>
            <a:ext cx="75495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DWH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05FD81-3C62-44D7-4B95-88B8131A722C}"/>
              </a:ext>
            </a:extLst>
          </p:cNvPr>
          <p:cNvSpPr/>
          <p:nvPr/>
        </p:nvSpPr>
        <p:spPr>
          <a:xfrm>
            <a:off x="1275019" y="1184996"/>
            <a:ext cx="2583879" cy="494133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B13A48-A938-C43A-16D4-A8773F9F218D}"/>
              </a:ext>
            </a:extLst>
          </p:cNvPr>
          <p:cNvSpPr txBox="1"/>
          <p:nvPr/>
        </p:nvSpPr>
        <p:spPr>
          <a:xfrm>
            <a:off x="5380539" y="4882381"/>
            <a:ext cx="677318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Nogmaals: meetwaarden staan alléén in feittabellen.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Daarom moeten deze tijdens het ETL-proces gemigreerd worden van een dimensietabel naar feittabel.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Dit kan bijvoorbeeld met behulp van een SQL JOIN of een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Python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pandas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merge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F36542E-54AA-8457-88DE-52EE04AE5E08}"/>
              </a:ext>
            </a:extLst>
          </p:cNvPr>
          <p:cNvCxnSpPr>
            <a:cxnSpLocks/>
            <a:stCxn id="35" idx="3"/>
            <a:endCxn id="3" idx="1"/>
          </p:cNvCxnSpPr>
          <p:nvPr/>
        </p:nvCxnSpPr>
        <p:spPr>
          <a:xfrm flipV="1">
            <a:off x="3858898" y="3559974"/>
            <a:ext cx="524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E23E8B4-A876-EEF2-863C-C1697EFAA973}"/>
              </a:ext>
            </a:extLst>
          </p:cNvPr>
          <p:cNvSpPr/>
          <p:nvPr/>
        </p:nvSpPr>
        <p:spPr>
          <a:xfrm>
            <a:off x="9170585" y="3655662"/>
            <a:ext cx="908597" cy="2281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7A883E-D5AE-63C7-3398-4675BC1D6865}"/>
              </a:ext>
            </a:extLst>
          </p:cNvPr>
          <p:cNvSpPr/>
          <p:nvPr/>
        </p:nvSpPr>
        <p:spPr>
          <a:xfrm>
            <a:off x="2042889" y="2643952"/>
            <a:ext cx="774103" cy="2383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EE2F8-AC76-6888-D7CC-269462A0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479BB281-17FD-70AF-5EE9-47A779511B8B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Feitaggregatie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63F3707-F2F9-A1F6-65C4-A772FDFD966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88DE7C-FF35-E643-9DFB-B316BA27482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339917" y="3209925"/>
            <a:ext cx="0" cy="903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9309CE0-730E-AFF9-468C-D7E59C30E848}"/>
              </a:ext>
            </a:extLst>
          </p:cNvPr>
          <p:cNvSpPr/>
          <p:nvPr/>
        </p:nvSpPr>
        <p:spPr>
          <a:xfrm>
            <a:off x="3872253" y="1008995"/>
            <a:ext cx="5076825" cy="220093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2B508-4695-2915-5F40-99CE6A6F17FF}"/>
              </a:ext>
            </a:extLst>
          </p:cNvPr>
          <p:cNvSpPr txBox="1"/>
          <p:nvPr/>
        </p:nvSpPr>
        <p:spPr>
          <a:xfrm>
            <a:off x="1173593" y="5771302"/>
            <a:ext cx="38566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B01C96-746D-3401-51D1-0B3F871DEBD6}"/>
              </a:ext>
            </a:extLst>
          </p:cNvPr>
          <p:cNvSpPr txBox="1"/>
          <p:nvPr/>
        </p:nvSpPr>
        <p:spPr>
          <a:xfrm>
            <a:off x="7636739" y="4113673"/>
            <a:ext cx="3150757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Feiten met een dergelijke hiërarchie moeten horizontaal samengevoegd worden tot één feittabel: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een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geaggregeerd feit.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732FDB-5CAC-D7FF-0747-11A44AB95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310" y="1077674"/>
            <a:ext cx="4886453" cy="20635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09E812-470F-AADB-231B-6FF4ABF16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110" y="4113673"/>
            <a:ext cx="1535818" cy="2232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B5F46F-3D03-01DC-9868-E5A47DEFF542}"/>
              </a:ext>
            </a:extLst>
          </p:cNvPr>
          <p:cNvSpPr txBox="1"/>
          <p:nvPr/>
        </p:nvSpPr>
        <p:spPr>
          <a:xfrm>
            <a:off x="1082642" y="4113673"/>
            <a:ext cx="4374571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In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SDM’s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kunnen feiten bestaan uit meerdere onderliggende feiten.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Bijvoorbeeld een bestelling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(“SALES_ORDER”)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 meerdere bestelregels heeft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(“SALES_ORDER_ITEM”)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19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FE1B-4129-1D88-0BBF-1376EC75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6C6A7B0-19E6-E533-C10A-D4A039139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861" y="3526756"/>
            <a:ext cx="1929693" cy="3102643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C28E1839-649C-E2C7-899F-F695E3BF6A77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Afgeleide meetwaarden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FF56AA8-9472-26EE-552E-FE86D2F65969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6C6793-3AF1-6E4D-E5D0-80AA24717B49}"/>
              </a:ext>
            </a:extLst>
          </p:cNvPr>
          <p:cNvCxnSpPr>
            <a:cxnSpLocks/>
          </p:cNvCxnSpPr>
          <p:nvPr/>
        </p:nvCxnSpPr>
        <p:spPr>
          <a:xfrm>
            <a:off x="6175898" y="3093414"/>
            <a:ext cx="0" cy="439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B1B44B-7F45-1F17-0A72-AD48193DF337}"/>
              </a:ext>
            </a:extLst>
          </p:cNvPr>
          <p:cNvSpPr txBox="1"/>
          <p:nvPr/>
        </p:nvSpPr>
        <p:spPr>
          <a:xfrm>
            <a:off x="7498946" y="4953379"/>
            <a:ext cx="416640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turnover =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unit_price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x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quantity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6871A-F791-E98C-3BB6-759A1A01A632}"/>
              </a:ext>
            </a:extLst>
          </p:cNvPr>
          <p:cNvSpPr/>
          <p:nvPr/>
        </p:nvSpPr>
        <p:spPr>
          <a:xfrm>
            <a:off x="1600200" y="787721"/>
            <a:ext cx="8507160" cy="230569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12CA2A-34E5-F683-1BB3-B07B13208B34}"/>
              </a:ext>
            </a:extLst>
          </p:cNvPr>
          <p:cNvSpPr/>
          <p:nvPr/>
        </p:nvSpPr>
        <p:spPr>
          <a:xfrm>
            <a:off x="5452832" y="5345907"/>
            <a:ext cx="916793" cy="343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C8D5B-6BF4-7FB6-40A5-510D85B10774}"/>
              </a:ext>
            </a:extLst>
          </p:cNvPr>
          <p:cNvSpPr txBox="1"/>
          <p:nvPr/>
        </p:nvSpPr>
        <p:spPr>
          <a:xfrm>
            <a:off x="1012801" y="4122382"/>
            <a:ext cx="416640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Afgeleide meetwaarden zijn numerieke / berekenbare kolommen die niét in het SDM voorkwamen, maar wel in het datawarehouse, ter bevordering van specifieke analyses.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F0DA93-4DCE-E7BD-DBD2-F475DD958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864" y="934895"/>
            <a:ext cx="4886453" cy="20635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F65E754-AA33-76F4-2DB2-56BF5D203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474" y="903377"/>
            <a:ext cx="1344360" cy="20218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95E2AFB-D71C-E414-A45F-BE28459E9141}"/>
              </a:ext>
            </a:extLst>
          </p:cNvPr>
          <p:cNvSpPr/>
          <p:nvPr/>
        </p:nvSpPr>
        <p:spPr>
          <a:xfrm>
            <a:off x="2703329" y="2329252"/>
            <a:ext cx="916793" cy="2476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F9B7F0-D445-886F-0D6B-8326A2AD3E1B}"/>
              </a:ext>
            </a:extLst>
          </p:cNvPr>
          <p:cNvSpPr/>
          <p:nvPr/>
        </p:nvSpPr>
        <p:spPr>
          <a:xfrm>
            <a:off x="5179207" y="2493334"/>
            <a:ext cx="916793" cy="2476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8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95C3-634E-FF01-D366-C1DA2492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1ADD72B-B8B9-2E63-E7D2-3A3FD7EC3D37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Koppelingen tussen feiten in Datawarehouses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1D9AA00D-9946-4724-2D2D-ABAD30B9E4B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16F89-136C-ED2F-960E-161178842716}"/>
              </a:ext>
            </a:extLst>
          </p:cNvPr>
          <p:cNvSpPr txBox="1"/>
          <p:nvPr/>
        </p:nvSpPr>
        <p:spPr>
          <a:xfrm>
            <a:off x="1287624" y="3868583"/>
            <a:ext cx="109043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noProof="0" dirty="0" err="1">
                <a:solidFill>
                  <a:prstClr val="black"/>
                </a:solidFill>
                <a:latin typeface="Calibri" panose="020F0502020204030204"/>
              </a:rPr>
              <a:t>Requirement</a:t>
            </a:r>
            <a:endParaRPr lang="nl-NL" b="1" noProof="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>
                <a:solidFill>
                  <a:prstClr val="black"/>
                </a:solidFill>
                <a:latin typeface="Calibri" panose="020F0502020204030204"/>
              </a:rPr>
              <a:t>Ik wil per datum álle bestellingen en álle gegeven bonussen kunnen zien!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ADD4D5-4723-B500-9235-CF4C3F6A7121}"/>
              </a:ext>
            </a:extLst>
          </p:cNvPr>
          <p:cNvSpPr txBox="1"/>
          <p:nvPr/>
        </p:nvSpPr>
        <p:spPr>
          <a:xfrm>
            <a:off x="3086877" y="5040303"/>
            <a:ext cx="73058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Doe ik dit zo?!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92276-7DAC-C5BC-85EC-B337535DDDDF}"/>
              </a:ext>
            </a:extLst>
          </p:cNvPr>
          <p:cNvSpPr txBox="1"/>
          <p:nvPr/>
        </p:nvSpPr>
        <p:spPr>
          <a:xfrm>
            <a:off x="1170992" y="5935025"/>
            <a:ext cx="110210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Nee! Feittabellen worden nóóit met elkaar verbonden!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08E6E9-41E0-DB40-4932-409C5E3A4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614" y="1350817"/>
            <a:ext cx="8651090" cy="279515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F095580-7E84-2612-0399-26FD1D24692F}"/>
              </a:ext>
            </a:extLst>
          </p:cNvPr>
          <p:cNvSpPr/>
          <p:nvPr/>
        </p:nvSpPr>
        <p:spPr>
          <a:xfrm>
            <a:off x="3974595" y="1531379"/>
            <a:ext cx="4951196" cy="73242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1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8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470E-8419-6A92-4221-5D0619C9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1AB3DE-3DA9-F12B-89A7-DFCE33E8D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24" y="908390"/>
            <a:ext cx="10599576" cy="2348060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DE5CC3B-1E1F-723A-F7BE-4A3AC72188D1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Indirecte koppelingen 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in Datawarehouses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7CCBD0BD-81E2-6B80-176D-D0372D11844C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DFC07-A2B4-ED7D-C51C-9C303B41040B}"/>
              </a:ext>
            </a:extLst>
          </p:cNvPr>
          <p:cNvSpPr txBox="1"/>
          <p:nvPr/>
        </p:nvSpPr>
        <p:spPr>
          <a:xfrm>
            <a:off x="1447799" y="3256450"/>
            <a:ext cx="109043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>
                <a:solidFill>
                  <a:prstClr val="black"/>
                </a:solidFill>
                <a:latin typeface="Calibri" panose="020F0502020204030204"/>
              </a:rPr>
              <a:t>Ik wil per datum álle bestellingen en álle gegeven bonussen kunnen zien!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52DED5-87A2-6B47-743C-5CBFECC2FE68}"/>
              </a:ext>
            </a:extLst>
          </p:cNvPr>
          <p:cNvSpPr txBox="1"/>
          <p:nvPr/>
        </p:nvSpPr>
        <p:spPr>
          <a:xfrm>
            <a:off x="3247052" y="3857417"/>
            <a:ext cx="73058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Hoe doe ik dit dan wél?!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C15B2-1EC3-8DED-B7C1-12337D59B56F}"/>
              </a:ext>
            </a:extLst>
          </p:cNvPr>
          <p:cNvSpPr txBox="1"/>
          <p:nvPr/>
        </p:nvSpPr>
        <p:spPr>
          <a:xfrm>
            <a:off x="2103732" y="4481801"/>
            <a:ext cx="99371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Feittabellen indirect met elkaar laten verbinden via een dimensie!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15A4B9-56FF-5232-AC37-00265800EA95}"/>
              </a:ext>
            </a:extLst>
          </p:cNvPr>
          <p:cNvSpPr/>
          <p:nvPr/>
        </p:nvSpPr>
        <p:spPr>
          <a:xfrm>
            <a:off x="3023755" y="957689"/>
            <a:ext cx="7304809" cy="15880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85AB0-EEA2-38A6-A612-E1B7A9FD582C}"/>
              </a:ext>
            </a:extLst>
          </p:cNvPr>
          <p:cNvSpPr txBox="1"/>
          <p:nvPr/>
        </p:nvSpPr>
        <p:spPr>
          <a:xfrm>
            <a:off x="987136" y="4991906"/>
            <a:ext cx="111286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/>
              <a:t>De belangrijkste reden hiervoor is dat er zogeheten </a:t>
            </a:r>
            <a:r>
              <a:rPr lang="nl-NL" dirty="0" err="1"/>
              <a:t>granulariteitsverschillen</a:t>
            </a:r>
            <a:r>
              <a:rPr lang="nl-NL" dirty="0"/>
              <a:t> kunnen zijn.</a:t>
            </a:r>
          </a:p>
          <a:p>
            <a:pPr lvl="0" algn="ctr">
              <a:defRPr/>
            </a:pPr>
            <a:r>
              <a:rPr lang="en-US" dirty="0"/>
              <a:t>Dit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zeggen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feiten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op </a:t>
            </a:r>
            <a:r>
              <a:rPr lang="en-US" dirty="0" err="1"/>
              <a:t>hetzelfde</a:t>
            </a:r>
            <a:r>
              <a:rPr lang="en-US" dirty="0"/>
              <a:t> </a:t>
            </a:r>
            <a:r>
              <a:rPr lang="en-US" dirty="0" err="1"/>
              <a:t>detailniveau</a:t>
            </a:r>
            <a:r>
              <a:rPr lang="en-US" dirty="0"/>
              <a:t> </a:t>
            </a:r>
            <a:r>
              <a:rPr lang="en-US" dirty="0" err="1"/>
              <a:t>bijgehouden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.</a:t>
            </a:r>
          </a:p>
          <a:p>
            <a:pPr lvl="0" algn="ctr">
              <a:defRPr/>
            </a:pPr>
            <a:endParaRPr lang="en-US" dirty="0"/>
          </a:p>
          <a:p>
            <a:pPr lvl="0" algn="ctr">
              <a:defRPr/>
            </a:pPr>
            <a:r>
              <a:rPr lang="en-US" dirty="0"/>
              <a:t>Stel </a:t>
            </a:r>
            <a:r>
              <a:rPr lang="en-US" dirty="0" err="1"/>
              <a:t>dat</a:t>
            </a:r>
            <a:r>
              <a:rPr lang="en-US" dirty="0"/>
              <a:t> we </a:t>
            </a:r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bonussen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per datum </a:t>
            </a:r>
            <a:r>
              <a:rPr lang="en-US" dirty="0" err="1"/>
              <a:t>bijhouden</a:t>
            </a:r>
            <a:r>
              <a:rPr lang="en-US" dirty="0"/>
              <a:t>, maar per </a:t>
            </a:r>
            <a:r>
              <a:rPr lang="en-US" dirty="0" err="1"/>
              <a:t>maand</a:t>
            </a:r>
            <a:r>
              <a:rPr lang="en-US" dirty="0"/>
              <a:t>.</a:t>
            </a:r>
          </a:p>
          <a:p>
            <a:pPr lvl="0" algn="ctr">
              <a:defRPr/>
            </a:pPr>
            <a:r>
              <a:rPr lang="en-US" dirty="0"/>
              <a:t>Hoe </a:t>
            </a:r>
            <a:r>
              <a:rPr lang="en-US" dirty="0" err="1"/>
              <a:t>komt</a:t>
            </a:r>
            <a:r>
              <a:rPr lang="en-US" dirty="0"/>
              <a:t> </a:t>
            </a:r>
            <a:r>
              <a:rPr lang="en-US" dirty="0" err="1"/>
              <a:t>ons</a:t>
            </a:r>
            <a:r>
              <a:rPr lang="en-US" dirty="0"/>
              <a:t> </a:t>
            </a:r>
            <a:r>
              <a:rPr lang="en-US" dirty="0" err="1"/>
              <a:t>Sterschema</a:t>
            </a:r>
            <a:r>
              <a:rPr lang="en-US" dirty="0"/>
              <a:t> er </a:t>
            </a:r>
            <a:r>
              <a:rPr lang="en-US" dirty="0" err="1"/>
              <a:t>dán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zien</a:t>
            </a:r>
            <a:r>
              <a:rPr lang="en-US" dirty="0"/>
              <a:t> (</a:t>
            </a:r>
            <a:r>
              <a:rPr lang="en-US" dirty="0" err="1"/>
              <a:t>volgende</a:t>
            </a:r>
            <a:r>
              <a:rPr lang="en-US" dirty="0"/>
              <a:t> slide)?!</a:t>
            </a:r>
          </a:p>
        </p:txBody>
      </p:sp>
    </p:spTree>
    <p:extLst>
      <p:ext uri="{BB962C8B-B14F-4D97-AF65-F5344CB8AC3E}">
        <p14:creationId xmlns:p14="http://schemas.microsoft.com/office/powerpoint/2010/main" val="424482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883B-296C-B1AF-F7D0-86DBC05C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9E7D16-59E3-27EE-7C49-4A04F065C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10" y="986127"/>
            <a:ext cx="10880823" cy="5071773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3CB0E03-3C64-AC5D-C016-7EA7183CF6B8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Granulariteitsverschillen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73F42605-020C-139A-4966-5F301C08B64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5C345-4E0E-1E12-1C8B-CC9822DC25D9}"/>
              </a:ext>
            </a:extLst>
          </p:cNvPr>
          <p:cNvSpPr txBox="1"/>
          <p:nvPr/>
        </p:nvSpPr>
        <p:spPr>
          <a:xfrm>
            <a:off x="3106912" y="3865417"/>
            <a:ext cx="9085088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>
                <a:solidFill>
                  <a:prstClr val="black"/>
                </a:solidFill>
                <a:latin typeface="Calibri" panose="020F0502020204030204"/>
              </a:rPr>
              <a:t>Het databeleid is veranderd en er is een </a:t>
            </a:r>
            <a:r>
              <a:rPr lang="nl-NL" noProof="0" dirty="0" err="1">
                <a:solidFill>
                  <a:prstClr val="black"/>
                </a:solidFill>
                <a:latin typeface="Calibri" panose="020F0502020204030204"/>
              </a:rPr>
              <a:t>granulariteitsverschil</a:t>
            </a:r>
            <a:r>
              <a:rPr lang="nl-NL" noProof="0" dirty="0">
                <a:solidFill>
                  <a:prstClr val="black"/>
                </a:solidFill>
                <a:latin typeface="Calibri" panose="020F0502020204030204"/>
              </a:rPr>
              <a:t> ontstaan: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Bestellingen worden op datum- en bonussen op maandniveau geregistreerd.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noProof="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Is dit Sterschema nu nog steeds correct?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Nee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, de 1-op-meerassociatie tussen “DATE” en “BONUS” klopt niet meer!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Er kan namelijk geen connectie meer gemaakt worden tussen beide tabellen.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Tóch wil ik per maand alle feiten kunnen zien.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Hoe op te lossen?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48B8E-F40A-1574-E3C7-A3950AA5614C}"/>
              </a:ext>
            </a:extLst>
          </p:cNvPr>
          <p:cNvSpPr/>
          <p:nvPr/>
        </p:nvSpPr>
        <p:spPr>
          <a:xfrm>
            <a:off x="1350818" y="4395354"/>
            <a:ext cx="1101437" cy="415637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AE464-6E84-99C4-A777-7040277F7998}"/>
              </a:ext>
            </a:extLst>
          </p:cNvPr>
          <p:cNvSpPr/>
          <p:nvPr/>
        </p:nvSpPr>
        <p:spPr>
          <a:xfrm>
            <a:off x="10375630" y="2130136"/>
            <a:ext cx="1407661" cy="49876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2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AF9E5-C28B-BDBE-F151-DA50CF09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BD483FEA-6406-D209-E509-A6BF674ED5D4}"/>
              </a:ext>
            </a:extLst>
          </p:cNvPr>
          <p:cNvSpPr txBox="1"/>
          <p:nvPr/>
        </p:nvSpPr>
        <p:spPr>
          <a:xfrm>
            <a:off x="653074" y="0"/>
            <a:ext cx="11538926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2 manieren om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granulariteitsverschillen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op te lossen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28D098B0-7EC4-9B9F-BF12-8510D95E838F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BDFF8-EC20-8753-BD34-9B3727FFD976}"/>
              </a:ext>
            </a:extLst>
          </p:cNvPr>
          <p:cNvSpPr txBox="1"/>
          <p:nvPr/>
        </p:nvSpPr>
        <p:spPr>
          <a:xfrm>
            <a:off x="3050060" y="1968403"/>
            <a:ext cx="3238773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Tx/>
              <a:buChar char="-"/>
              <a:defRPr/>
            </a:pPr>
            <a:r>
              <a:rPr lang="nl-NL" dirty="0" err="1">
                <a:latin typeface="Calibri" panose="020F0502020204030204"/>
              </a:rPr>
              <a:t>Snowflaking</a:t>
            </a:r>
            <a:r>
              <a:rPr lang="nl-NL" dirty="0">
                <a:latin typeface="Calibri" panose="020F0502020204030204"/>
              </a:rPr>
              <a:t>: het aanbrengen van associaties tussen dimensies in Sterschema’s.</a:t>
            </a: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latin typeface="Calibri" panose="020F0502020204030204"/>
              </a:rPr>
              <a:t>Extra dimensie “MONTH” is aangemaakt.</a:t>
            </a:r>
          </a:p>
          <a:p>
            <a:pPr marL="285750" lvl="0" indent="-285750">
              <a:buFontTx/>
              <a:buChar char="-"/>
              <a:defRPr/>
            </a:pPr>
            <a:endParaRPr lang="nl-NL" dirty="0">
              <a:solidFill>
                <a:srgbClr val="00B050"/>
              </a:solidFill>
              <a:latin typeface="Calibri" panose="020F0502020204030204"/>
            </a:endParaRP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solidFill>
                  <a:srgbClr val="00B050"/>
                </a:solidFill>
                <a:latin typeface="Calibri" panose="020F0502020204030204"/>
              </a:rPr>
              <a:t>Voordeel: je behoudt je data-integriteit. Je weet zeker dat alles naar elkaar herleid kan worden en dat er bijvoorbeeld geen “losse maanden” zijn.</a:t>
            </a:r>
          </a:p>
          <a:p>
            <a:pPr lvl="0">
              <a:defRPr/>
            </a:pPr>
            <a:endParaRPr lang="nl-NL" dirty="0">
              <a:solidFill>
                <a:srgbClr val="00B050"/>
              </a:solidFill>
              <a:latin typeface="Calibri" panose="020F0502020204030204"/>
            </a:endParaRP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solidFill>
                  <a:srgbClr val="FF0000"/>
                </a:solidFill>
                <a:latin typeface="Calibri" panose="020F0502020204030204"/>
              </a:rPr>
              <a:t>Nadeel: je verlaagt je analysesnelheid, omdat er meerdere JOINS gemaakt moeten worden</a:t>
            </a:r>
          </a:p>
        </p:txBody>
      </p:sp>
      <p:cxnSp>
        <p:nvCxnSpPr>
          <p:cNvPr id="2" name="Straight Connector 10">
            <a:extLst>
              <a:ext uri="{FF2B5EF4-FFF2-40B4-BE49-F238E27FC236}">
                <a16:creationId xmlns:a16="http://schemas.microsoft.com/office/drawing/2014/main" id="{3D7B594E-DE5C-3380-AD29-DFBA2D49CCBC}"/>
              </a:ext>
            </a:extLst>
          </p:cNvPr>
          <p:cNvCxnSpPr>
            <a:cxnSpLocks/>
          </p:cNvCxnSpPr>
          <p:nvPr/>
        </p:nvCxnSpPr>
        <p:spPr>
          <a:xfrm>
            <a:off x="988290" y="78625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6804C335-A9DD-CBBD-DC24-8BF389DB7049}"/>
              </a:ext>
            </a:extLst>
          </p:cNvPr>
          <p:cNvCxnSpPr>
            <a:cxnSpLocks/>
          </p:cNvCxnSpPr>
          <p:nvPr/>
        </p:nvCxnSpPr>
        <p:spPr>
          <a:xfrm flipV="1">
            <a:off x="6410131" y="786250"/>
            <a:ext cx="0" cy="607175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5AA4D0D-1A44-E328-917E-90B335757E7F}"/>
              </a:ext>
            </a:extLst>
          </p:cNvPr>
          <p:cNvSpPr txBox="1"/>
          <p:nvPr/>
        </p:nvSpPr>
        <p:spPr>
          <a:xfrm>
            <a:off x="6531430" y="1925427"/>
            <a:ext cx="3350325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nl-NL" dirty="0"/>
              <a:t>Ook hier is een extra dimensie “MONTH” aangemaakt.</a:t>
            </a:r>
          </a:p>
          <a:p>
            <a:pPr>
              <a:defRPr/>
            </a:pPr>
            <a:r>
              <a:rPr lang="nl-NL" dirty="0"/>
              <a:t>Nu is er in </a:t>
            </a:r>
            <a:r>
              <a:rPr lang="nl-NL" dirty="0" err="1"/>
              <a:t>sales_order</a:t>
            </a:r>
            <a:r>
              <a:rPr lang="nl-NL" dirty="0"/>
              <a:t> “</a:t>
            </a:r>
            <a:r>
              <a:rPr lang="nl-NL" dirty="0" err="1"/>
              <a:t>month_year</a:t>
            </a:r>
            <a:r>
              <a:rPr lang="nl-NL" dirty="0"/>
              <a:t>” aangemaakt die wordt herleid uit “</a:t>
            </a:r>
            <a:r>
              <a:rPr lang="nl-NL" dirty="0" err="1"/>
              <a:t>order_date</a:t>
            </a:r>
            <a:r>
              <a:rPr lang="nl-NL" dirty="0"/>
              <a:t>”</a:t>
            </a:r>
            <a:endParaRPr lang="nl-NL" dirty="0">
              <a:solidFill>
                <a:srgbClr val="00B050"/>
              </a:solidFill>
              <a:latin typeface="Calibri" panose="020F0502020204030204"/>
            </a:endParaRPr>
          </a:p>
          <a:p>
            <a:pPr lvl="0">
              <a:defRPr/>
            </a:pPr>
            <a:endParaRPr lang="nl-NL" dirty="0">
              <a:solidFill>
                <a:srgbClr val="00B05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nl-NL" dirty="0">
                <a:solidFill>
                  <a:srgbClr val="00B050"/>
                </a:solidFill>
                <a:latin typeface="Calibri" panose="020F0502020204030204"/>
              </a:rPr>
              <a:t>Voordeel: je verhoogt je analysesnelheid, omdat er in minder tabellen gekeken hoeft te worden.</a:t>
            </a:r>
          </a:p>
          <a:p>
            <a:pPr lvl="0">
              <a:defRPr/>
            </a:pPr>
            <a:endParaRPr lang="nl-NL" dirty="0">
              <a:solidFill>
                <a:srgbClr val="00B05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nl-NL" dirty="0">
                <a:solidFill>
                  <a:srgbClr val="FF0000"/>
                </a:solidFill>
                <a:latin typeface="Calibri" panose="020F0502020204030204"/>
              </a:rPr>
              <a:t>Nadeel: je loopt het risico dat uit datums de onjuiste maanden worden herleid. Als dit optreedt zou je data-integriteit in gevaar komen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1341D5-0124-D96F-8661-41942885B0C0}"/>
              </a:ext>
            </a:extLst>
          </p:cNvPr>
          <p:cNvSpPr txBox="1"/>
          <p:nvPr/>
        </p:nvSpPr>
        <p:spPr>
          <a:xfrm>
            <a:off x="2860773" y="889443"/>
            <a:ext cx="34280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nl-NL" sz="3600" dirty="0" err="1">
                <a:solidFill>
                  <a:prstClr val="black"/>
                </a:solidFill>
                <a:latin typeface="Calibri" panose="020F0502020204030204"/>
              </a:rPr>
              <a:t>Snowflaking</a:t>
            </a:r>
            <a:endParaRPr lang="nl-NL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F3183-1989-71D6-5849-DF96B9C673E3}"/>
              </a:ext>
            </a:extLst>
          </p:cNvPr>
          <p:cNvSpPr txBox="1"/>
          <p:nvPr/>
        </p:nvSpPr>
        <p:spPr>
          <a:xfrm>
            <a:off x="7465737" y="844247"/>
            <a:ext cx="34280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nl-NL" sz="3600" dirty="0">
                <a:solidFill>
                  <a:prstClr val="black"/>
                </a:solidFill>
                <a:latin typeface="Calibri" panose="020F0502020204030204"/>
              </a:rPr>
              <a:t>Niet-</a:t>
            </a:r>
            <a:r>
              <a:rPr lang="nl-NL" sz="3600" dirty="0" err="1">
                <a:solidFill>
                  <a:prstClr val="black"/>
                </a:solidFill>
                <a:latin typeface="Calibri" panose="020F0502020204030204"/>
              </a:rPr>
              <a:t>snowflaking</a:t>
            </a:r>
            <a:endParaRPr lang="nl-NL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A7310-FDDE-9549-4DCA-B0CAF00F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86" y="928669"/>
            <a:ext cx="2023277" cy="5846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66B9A5-DBD2-4F80-DFAD-7A5F83613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656" y="1489607"/>
            <a:ext cx="2231746" cy="52049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D23F08-7D83-BD32-A239-FDE3B9EBDF3C}"/>
              </a:ext>
            </a:extLst>
          </p:cNvPr>
          <p:cNvSpPr/>
          <p:nvPr/>
        </p:nvSpPr>
        <p:spPr>
          <a:xfrm>
            <a:off x="1097388" y="1717608"/>
            <a:ext cx="2144573" cy="333237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8F6F4F-F122-48F8-1321-4D03D5FD0259}"/>
              </a:ext>
            </a:extLst>
          </p:cNvPr>
          <p:cNvSpPr/>
          <p:nvPr/>
        </p:nvSpPr>
        <p:spPr>
          <a:xfrm>
            <a:off x="9809017" y="5895745"/>
            <a:ext cx="1084779" cy="25567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3B879A-45CD-FE51-984A-6C4CEA021F7F}"/>
              </a:ext>
            </a:extLst>
          </p:cNvPr>
          <p:cNvSpPr/>
          <p:nvPr/>
        </p:nvSpPr>
        <p:spPr>
          <a:xfrm>
            <a:off x="9809017" y="6413268"/>
            <a:ext cx="1084780" cy="28125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30E6E8-4D4B-7010-9F4C-21A5AC809F79}"/>
              </a:ext>
            </a:extLst>
          </p:cNvPr>
          <p:cNvSpPr/>
          <p:nvPr/>
        </p:nvSpPr>
        <p:spPr>
          <a:xfrm>
            <a:off x="9717656" y="3173327"/>
            <a:ext cx="1535699" cy="98303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9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1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DCCC3-C624-3C91-839D-DE2C9E9543F6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Laatste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stap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maak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per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dimensietabel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ETL-schema</a:t>
            </a: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16F47CF1-82F7-0D2E-2164-A8F4F4DFB2FA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0">
            <a:extLst>
              <a:ext uri="{FF2B5EF4-FFF2-40B4-BE49-F238E27FC236}">
                <a16:creationId xmlns:a16="http://schemas.microsoft.com/office/drawing/2014/main" id="{FB127322-BEE4-EFEE-D5B2-6857D4DCDBF1}"/>
              </a:ext>
            </a:extLst>
          </p:cNvPr>
          <p:cNvCxnSpPr>
            <a:cxnSpLocks/>
          </p:cNvCxnSpPr>
          <p:nvPr/>
        </p:nvCxnSpPr>
        <p:spPr>
          <a:xfrm>
            <a:off x="868053" y="1575134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15277E48-9B40-F8F1-4AA4-031D39AC17F8}"/>
              </a:ext>
            </a:extLst>
          </p:cNvPr>
          <p:cNvSpPr txBox="1"/>
          <p:nvPr/>
        </p:nvSpPr>
        <p:spPr>
          <a:xfrm>
            <a:off x="1000577" y="800580"/>
            <a:ext cx="11071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ETL-schema’s geven weer welke datastromen er nodig zijn om van SDM- naar DWH-tabellen te komen</a:t>
            </a:r>
          </a:p>
          <a:p>
            <a:pPr algn="ctr"/>
            <a:r>
              <a:rPr lang="nl-NL" dirty="0"/>
              <a:t>Per dimensie- en feittabel moet een ETL-schema getekend worden.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214F197-AB09-6655-100E-C0BBC63A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0" y="1637546"/>
            <a:ext cx="2202779" cy="3040199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A5BB38C1-51EE-4923-1D30-0760BE303424}"/>
              </a:ext>
            </a:extLst>
          </p:cNvPr>
          <p:cNvSpPr/>
          <p:nvPr/>
        </p:nvSpPr>
        <p:spPr>
          <a:xfrm>
            <a:off x="3293707" y="1706748"/>
            <a:ext cx="4749282" cy="32291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497D6FB5-0431-486C-A574-08441C35D84B}"/>
              </a:ext>
            </a:extLst>
          </p:cNvPr>
          <p:cNvSpPr txBox="1"/>
          <p:nvPr/>
        </p:nvSpPr>
        <p:spPr>
          <a:xfrm>
            <a:off x="1000576" y="5458015"/>
            <a:ext cx="19828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Extract:</a:t>
            </a:r>
          </a:p>
          <a:p>
            <a:pPr algn="ctr"/>
            <a:r>
              <a:rPr lang="nl-NL" dirty="0"/>
              <a:t>Data wordt uit </a:t>
            </a:r>
            <a:r>
              <a:rPr lang="nl-NL" u="sng" dirty="0"/>
              <a:t>het SDM </a:t>
            </a:r>
            <a:r>
              <a:rPr lang="nl-NL" dirty="0"/>
              <a:t>gehaald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29ABE468-CEC1-25F4-4BF1-A57D91AFE45D}"/>
              </a:ext>
            </a:extLst>
          </p:cNvPr>
          <p:cNvSpPr txBox="1"/>
          <p:nvPr/>
        </p:nvSpPr>
        <p:spPr>
          <a:xfrm>
            <a:off x="4282790" y="5398595"/>
            <a:ext cx="3069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 err="1"/>
              <a:t>Transform</a:t>
            </a:r>
            <a:r>
              <a:rPr lang="nl-NL" b="1" dirty="0"/>
              <a:t>:</a:t>
            </a:r>
          </a:p>
          <a:p>
            <a:pPr algn="ctr"/>
            <a:r>
              <a:rPr lang="nl-NL" dirty="0"/>
              <a:t>De nodige transformaties worden uitgevoerd</a:t>
            </a:r>
          </a:p>
          <a:p>
            <a:pPr algn="ctr"/>
            <a:r>
              <a:rPr lang="nl-NL" dirty="0"/>
              <a:t>(hier nog niet van toepassing)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8CB2FD22-2CCD-4EC3-2DD4-7405B5891E38}"/>
              </a:ext>
            </a:extLst>
          </p:cNvPr>
          <p:cNvSpPr txBox="1"/>
          <p:nvPr/>
        </p:nvSpPr>
        <p:spPr>
          <a:xfrm>
            <a:off x="8612246" y="5456045"/>
            <a:ext cx="3069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Load:</a:t>
            </a:r>
          </a:p>
          <a:p>
            <a:pPr algn="ctr"/>
            <a:r>
              <a:rPr lang="nl-NL" dirty="0"/>
              <a:t>De (eventueel getransformeerde) data wordt ingeladen in de </a:t>
            </a:r>
            <a:r>
              <a:rPr lang="nl-NL" u="sng" dirty="0"/>
              <a:t>DWH-tabel</a:t>
            </a:r>
          </a:p>
        </p:txBody>
      </p:sp>
      <p:pic>
        <p:nvPicPr>
          <p:cNvPr id="3" name="Afbeelding 11">
            <a:extLst>
              <a:ext uri="{FF2B5EF4-FFF2-40B4-BE49-F238E27FC236}">
                <a16:creationId xmlns:a16="http://schemas.microsoft.com/office/drawing/2014/main" id="{7AA0BBFE-8E5D-45B1-5D3A-06C3DD77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205" y="1600177"/>
            <a:ext cx="2202779" cy="3040199"/>
          </a:xfrm>
          <a:prstGeom prst="rect">
            <a:avLst/>
          </a:prstGeom>
        </p:spPr>
      </p:pic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E006AFDD-BC81-BF14-655C-BE6BEC27B1FB}"/>
              </a:ext>
            </a:extLst>
          </p:cNvPr>
          <p:cNvCxnSpPr>
            <a:cxnSpLocks/>
          </p:cNvCxnSpPr>
          <p:nvPr/>
        </p:nvCxnSpPr>
        <p:spPr>
          <a:xfrm>
            <a:off x="1623527" y="2388637"/>
            <a:ext cx="70840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24C93F95-FCE9-9704-E328-AFDE50824518}"/>
              </a:ext>
            </a:extLst>
          </p:cNvPr>
          <p:cNvCxnSpPr>
            <a:cxnSpLocks/>
          </p:cNvCxnSpPr>
          <p:nvPr/>
        </p:nvCxnSpPr>
        <p:spPr>
          <a:xfrm>
            <a:off x="1991998" y="2699657"/>
            <a:ext cx="6620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4C47E340-03D8-7F49-2999-D16A13CB4686}"/>
              </a:ext>
            </a:extLst>
          </p:cNvPr>
          <p:cNvCxnSpPr>
            <a:cxnSpLocks/>
          </p:cNvCxnSpPr>
          <p:nvPr/>
        </p:nvCxnSpPr>
        <p:spPr>
          <a:xfrm>
            <a:off x="2498961" y="3010678"/>
            <a:ext cx="6208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7B078322-FC1F-F610-CDBA-DF342BA000F9}"/>
              </a:ext>
            </a:extLst>
          </p:cNvPr>
          <p:cNvCxnSpPr>
            <a:cxnSpLocks/>
          </p:cNvCxnSpPr>
          <p:nvPr/>
        </p:nvCxnSpPr>
        <p:spPr>
          <a:xfrm>
            <a:off x="2433647" y="3321698"/>
            <a:ext cx="6273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06A966B0-A8D9-9EAB-1270-79139C683D54}"/>
              </a:ext>
            </a:extLst>
          </p:cNvPr>
          <p:cNvCxnSpPr>
            <a:cxnSpLocks/>
          </p:cNvCxnSpPr>
          <p:nvPr/>
        </p:nvCxnSpPr>
        <p:spPr>
          <a:xfrm flipV="1">
            <a:off x="1904912" y="3564082"/>
            <a:ext cx="6802670" cy="10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FC0B73C6-1C16-1E93-9E7F-54F8BD67D724}"/>
              </a:ext>
            </a:extLst>
          </p:cNvPr>
          <p:cNvCxnSpPr>
            <a:cxnSpLocks/>
          </p:cNvCxnSpPr>
          <p:nvPr/>
        </p:nvCxnSpPr>
        <p:spPr>
          <a:xfrm flipV="1">
            <a:off x="2498961" y="3894752"/>
            <a:ext cx="6113285" cy="39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575A5E01-1068-A93D-3A78-1A7083783168}"/>
              </a:ext>
            </a:extLst>
          </p:cNvPr>
          <p:cNvCxnSpPr>
            <a:cxnSpLocks/>
          </p:cNvCxnSpPr>
          <p:nvPr/>
        </p:nvCxnSpPr>
        <p:spPr>
          <a:xfrm flipV="1">
            <a:off x="2313992" y="4186123"/>
            <a:ext cx="6393590" cy="57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51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DCCC3-C624-3C91-839D-DE2C9E9543F6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Ietsje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lastiger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2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brontabellen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horizontaal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samenvoegen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16F47CF1-82F7-0D2E-2164-A8F4F4DFB2FA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hoek 13">
            <a:extLst>
              <a:ext uri="{FF2B5EF4-FFF2-40B4-BE49-F238E27FC236}">
                <a16:creationId xmlns:a16="http://schemas.microsoft.com/office/drawing/2014/main" id="{A5BB38C1-51EE-4923-1D30-0760BE303424}"/>
              </a:ext>
            </a:extLst>
          </p:cNvPr>
          <p:cNvSpPr/>
          <p:nvPr/>
        </p:nvSpPr>
        <p:spPr>
          <a:xfrm>
            <a:off x="3491982" y="1884410"/>
            <a:ext cx="4749282" cy="3635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r>
              <a:rPr lang="nl-NL" dirty="0"/>
              <a:t>JOIN</a:t>
            </a:r>
          </a:p>
          <a:p>
            <a:pPr algn="ctr"/>
            <a:r>
              <a:rPr lang="nl-NL" dirty="0" err="1"/>
              <a:t>employee.dept_id</a:t>
            </a:r>
            <a:r>
              <a:rPr lang="nl-NL" dirty="0"/>
              <a:t> = </a:t>
            </a:r>
            <a:r>
              <a:rPr lang="nl-NL" dirty="0" err="1"/>
              <a:t>department.dept_id</a:t>
            </a:r>
            <a:endParaRPr lang="nl-NL" dirty="0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497D6FB5-0431-486C-A574-08441C35D84B}"/>
              </a:ext>
            </a:extLst>
          </p:cNvPr>
          <p:cNvSpPr txBox="1"/>
          <p:nvPr/>
        </p:nvSpPr>
        <p:spPr>
          <a:xfrm>
            <a:off x="965112" y="5902562"/>
            <a:ext cx="9737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Fullname</a:t>
            </a:r>
            <a:r>
              <a:rPr lang="nl-NL" dirty="0"/>
              <a:t> wordt gevuld op basis van </a:t>
            </a:r>
            <a:r>
              <a:rPr lang="nl-NL" dirty="0" err="1"/>
              <a:t>emp_fname</a:t>
            </a:r>
            <a:r>
              <a:rPr lang="nl-NL" dirty="0"/>
              <a:t> en </a:t>
            </a:r>
            <a:r>
              <a:rPr lang="nl-NL" dirty="0" err="1"/>
              <a:t>emp_lname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Uit </a:t>
            </a:r>
            <a:r>
              <a:rPr lang="nl-NL" dirty="0" err="1"/>
              <a:t>salary</a:t>
            </a:r>
            <a:r>
              <a:rPr lang="nl-NL" dirty="0"/>
              <a:t> worden zowel </a:t>
            </a:r>
            <a:r>
              <a:rPr lang="nl-NL" dirty="0" err="1"/>
              <a:t>salary</a:t>
            </a:r>
            <a:r>
              <a:rPr lang="nl-NL" dirty="0"/>
              <a:t> als </a:t>
            </a:r>
            <a:r>
              <a:rPr lang="nl-NL" dirty="0" err="1"/>
              <a:t>Salary_group</a:t>
            </a:r>
            <a:r>
              <a:rPr lang="nl-NL" dirty="0"/>
              <a:t> gevuld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Hier moet je extra duidelijk maken op basis waarvan de 2 brontabellen worden samengevoegd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53474CF-4124-9190-F9AF-6DB797D65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45" y="1844645"/>
            <a:ext cx="1198553" cy="2242747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10148233-AEA9-2FB9-F703-0BA94752E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167" y="4546763"/>
            <a:ext cx="998307" cy="701101"/>
          </a:xfrm>
          <a:prstGeom prst="rect">
            <a:avLst/>
          </a:prstGeom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E0D87BDE-C4A4-7232-B9EB-0A2E455AAAC6}"/>
              </a:ext>
            </a:extLst>
          </p:cNvPr>
          <p:cNvCxnSpPr>
            <a:cxnSpLocks/>
          </p:cNvCxnSpPr>
          <p:nvPr/>
        </p:nvCxnSpPr>
        <p:spPr>
          <a:xfrm flipV="1">
            <a:off x="2055068" y="2263806"/>
            <a:ext cx="7117493" cy="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6BD3F36C-1FA4-FED5-A226-00F7EF08583A}"/>
              </a:ext>
            </a:extLst>
          </p:cNvPr>
          <p:cNvCxnSpPr>
            <a:cxnSpLocks/>
          </p:cNvCxnSpPr>
          <p:nvPr/>
        </p:nvCxnSpPr>
        <p:spPr>
          <a:xfrm>
            <a:off x="2263452" y="2441468"/>
            <a:ext cx="6909109" cy="135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Rechte verbindingslijn met pijl 39">
            <a:extLst>
              <a:ext uri="{FF2B5EF4-FFF2-40B4-BE49-F238E27FC236}">
                <a16:creationId xmlns:a16="http://schemas.microsoft.com/office/drawing/2014/main" id="{174AB768-28AB-6309-346D-CAA692F37B29}"/>
              </a:ext>
            </a:extLst>
          </p:cNvPr>
          <p:cNvCxnSpPr>
            <a:cxnSpLocks/>
          </p:cNvCxnSpPr>
          <p:nvPr/>
        </p:nvCxnSpPr>
        <p:spPr>
          <a:xfrm flipV="1">
            <a:off x="1853836" y="2820472"/>
            <a:ext cx="7234405" cy="438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echte verbindingslijn met pijl 42">
            <a:extLst>
              <a:ext uri="{FF2B5EF4-FFF2-40B4-BE49-F238E27FC236}">
                <a16:creationId xmlns:a16="http://schemas.microsoft.com/office/drawing/2014/main" id="{CDBB8F23-7843-85BF-A968-D0273547202D}"/>
              </a:ext>
            </a:extLst>
          </p:cNvPr>
          <p:cNvCxnSpPr>
            <a:cxnSpLocks/>
          </p:cNvCxnSpPr>
          <p:nvPr/>
        </p:nvCxnSpPr>
        <p:spPr>
          <a:xfrm>
            <a:off x="7231940" y="2916257"/>
            <a:ext cx="1805406" cy="160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Rechte verbindingslijn met pijl 46">
            <a:extLst>
              <a:ext uri="{FF2B5EF4-FFF2-40B4-BE49-F238E27FC236}">
                <a16:creationId xmlns:a16="http://schemas.microsoft.com/office/drawing/2014/main" id="{B2891E90-BA69-129F-0E0B-F7F2C812CF04}"/>
              </a:ext>
            </a:extLst>
          </p:cNvPr>
          <p:cNvCxnSpPr>
            <a:cxnSpLocks/>
          </p:cNvCxnSpPr>
          <p:nvPr/>
        </p:nvCxnSpPr>
        <p:spPr>
          <a:xfrm flipV="1">
            <a:off x="2176365" y="3429000"/>
            <a:ext cx="6996196" cy="89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E5EC69A4-F9E1-17F8-1C08-5E9FC793B7AD}"/>
              </a:ext>
            </a:extLst>
          </p:cNvPr>
          <p:cNvCxnSpPr>
            <a:cxnSpLocks/>
          </p:cNvCxnSpPr>
          <p:nvPr/>
        </p:nvCxnSpPr>
        <p:spPr>
          <a:xfrm>
            <a:off x="2097867" y="3710810"/>
            <a:ext cx="7074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Rechte verbindingslijn met pijl 52">
            <a:extLst>
              <a:ext uri="{FF2B5EF4-FFF2-40B4-BE49-F238E27FC236}">
                <a16:creationId xmlns:a16="http://schemas.microsoft.com/office/drawing/2014/main" id="{B9843ABE-64D0-31C0-C942-9CA3707378FA}"/>
              </a:ext>
            </a:extLst>
          </p:cNvPr>
          <p:cNvCxnSpPr>
            <a:cxnSpLocks/>
          </p:cNvCxnSpPr>
          <p:nvPr/>
        </p:nvCxnSpPr>
        <p:spPr>
          <a:xfrm>
            <a:off x="1765818" y="3927727"/>
            <a:ext cx="7406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2017D881-EB44-1F61-20C3-A22A81F75E68}"/>
              </a:ext>
            </a:extLst>
          </p:cNvPr>
          <p:cNvCxnSpPr>
            <a:cxnSpLocks/>
          </p:cNvCxnSpPr>
          <p:nvPr/>
        </p:nvCxnSpPr>
        <p:spPr>
          <a:xfrm flipV="1">
            <a:off x="2201968" y="4177145"/>
            <a:ext cx="6970593" cy="88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hthoek 58">
            <a:extLst>
              <a:ext uri="{FF2B5EF4-FFF2-40B4-BE49-F238E27FC236}">
                <a16:creationId xmlns:a16="http://schemas.microsoft.com/office/drawing/2014/main" id="{A4802469-43C7-D404-6B63-A4A1D94DB58E}"/>
              </a:ext>
            </a:extLst>
          </p:cNvPr>
          <p:cNvSpPr/>
          <p:nvPr/>
        </p:nvSpPr>
        <p:spPr>
          <a:xfrm>
            <a:off x="7877369" y="2751466"/>
            <a:ext cx="1210872" cy="404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0" name="Rechthoek 59">
            <a:extLst>
              <a:ext uri="{FF2B5EF4-FFF2-40B4-BE49-F238E27FC236}">
                <a16:creationId xmlns:a16="http://schemas.microsoft.com/office/drawing/2014/main" id="{84D01A17-6EAE-2D66-7393-F573AEA52A64}"/>
              </a:ext>
            </a:extLst>
          </p:cNvPr>
          <p:cNvSpPr/>
          <p:nvPr/>
        </p:nvSpPr>
        <p:spPr>
          <a:xfrm>
            <a:off x="3912203" y="4915012"/>
            <a:ext cx="3965166" cy="5494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15277E48-9B40-F8F1-4AA4-031D39AC17F8}"/>
              </a:ext>
            </a:extLst>
          </p:cNvPr>
          <p:cNvSpPr txBox="1"/>
          <p:nvPr/>
        </p:nvSpPr>
        <p:spPr>
          <a:xfrm>
            <a:off x="988290" y="751121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In de dimensietabel Employee is data uit 2 operationele tabellen horizontaal samengevoegd: Employee &amp; </a:t>
            </a:r>
            <a:r>
              <a:rPr lang="nl-NL" dirty="0" err="1"/>
              <a:t>Department</a:t>
            </a:r>
            <a:r>
              <a:rPr lang="nl-NL" dirty="0"/>
              <a:t>.</a:t>
            </a:r>
          </a:p>
          <a:p>
            <a:pPr algn="ctr"/>
            <a:r>
              <a:rPr lang="nl-NL" dirty="0"/>
              <a:t>Dergelijke samenvoegingen verdienen expliciet aandacht bij het modelleren en bouwen van ETL-processen.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31B8768-E3A6-2EE1-49FA-3D9D2AFA82D5}"/>
              </a:ext>
            </a:extLst>
          </p:cNvPr>
          <p:cNvCxnSpPr>
            <a:cxnSpLocks/>
          </p:cNvCxnSpPr>
          <p:nvPr/>
        </p:nvCxnSpPr>
        <p:spPr>
          <a:xfrm>
            <a:off x="965112" y="139745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46E90D5-1628-F65A-B72E-31D205126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561" y="1592490"/>
            <a:ext cx="2996261" cy="304927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7E3429-898D-01BF-D0FC-562A3E850B76}"/>
              </a:ext>
            </a:extLst>
          </p:cNvPr>
          <p:cNvCxnSpPr>
            <a:cxnSpLocks/>
          </p:cNvCxnSpPr>
          <p:nvPr/>
        </p:nvCxnSpPr>
        <p:spPr>
          <a:xfrm flipV="1">
            <a:off x="2263452" y="2447995"/>
            <a:ext cx="926557" cy="2536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hthoek 58">
            <a:extLst>
              <a:ext uri="{FF2B5EF4-FFF2-40B4-BE49-F238E27FC236}">
                <a16:creationId xmlns:a16="http://schemas.microsoft.com/office/drawing/2014/main" id="{9F284138-E807-A9EE-7937-5CEA44CCA837}"/>
              </a:ext>
            </a:extLst>
          </p:cNvPr>
          <p:cNvSpPr/>
          <p:nvPr/>
        </p:nvSpPr>
        <p:spPr>
          <a:xfrm>
            <a:off x="2721595" y="2394960"/>
            <a:ext cx="569287" cy="404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076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DCCC3-C624-3C91-839D-DE2C9E9543F6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Nog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lastiger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2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brontabellen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verticaal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samenvoegen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16F47CF1-82F7-0D2E-2164-A8F4F4DFB2FA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0">
            <a:extLst>
              <a:ext uri="{FF2B5EF4-FFF2-40B4-BE49-F238E27FC236}">
                <a16:creationId xmlns:a16="http://schemas.microsoft.com/office/drawing/2014/main" id="{FB127322-BEE4-EFEE-D5B2-6857D4DCDBF1}"/>
              </a:ext>
            </a:extLst>
          </p:cNvPr>
          <p:cNvCxnSpPr>
            <a:cxnSpLocks/>
          </p:cNvCxnSpPr>
          <p:nvPr/>
        </p:nvCxnSpPr>
        <p:spPr>
          <a:xfrm>
            <a:off x="988290" y="139859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15277E48-9B40-F8F1-4AA4-031D39AC17F8}"/>
              </a:ext>
            </a:extLst>
          </p:cNvPr>
          <p:cNvSpPr txBox="1"/>
          <p:nvPr/>
        </p:nvSpPr>
        <p:spPr>
          <a:xfrm>
            <a:off x="988291" y="730893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In de dimensietabel DATE is data uit 2 brontabellen verticaal samengevoegd: </a:t>
            </a:r>
            <a:r>
              <a:rPr lang="nl-NL" dirty="0" err="1"/>
              <a:t>Sales_Order</a:t>
            </a:r>
            <a:r>
              <a:rPr lang="nl-NL" dirty="0"/>
              <a:t> &amp; Bonus.</a:t>
            </a:r>
          </a:p>
          <a:p>
            <a:pPr algn="ctr"/>
            <a:r>
              <a:rPr lang="nl-NL" dirty="0"/>
              <a:t>Ook zulke samenvoegingen verdienen expliciet aandacht bij het modelleren en bouwen van ETL-processen.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37502D1-56E3-7E6F-2131-4C277A5C6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118" y="1749453"/>
            <a:ext cx="2469217" cy="2007604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CEB6881-714D-19F4-C5D9-11F77A16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40" y="3796559"/>
            <a:ext cx="2942254" cy="2577157"/>
          </a:xfrm>
          <a:prstGeom prst="rect">
            <a:avLst/>
          </a:prstGeom>
        </p:spPr>
      </p:pic>
      <p:graphicFrame>
        <p:nvGraphicFramePr>
          <p:cNvPr id="28" name="Tabel 27">
            <a:extLst>
              <a:ext uri="{FF2B5EF4-FFF2-40B4-BE49-F238E27FC236}">
                <a16:creationId xmlns:a16="http://schemas.microsoft.com/office/drawing/2014/main" id="{FEB9B48A-61A9-150C-273B-CA83018A0CEE}"/>
              </a:ext>
            </a:extLst>
          </p:cNvPr>
          <p:cNvGraphicFramePr>
            <a:graphicFrameLocks noGrp="1"/>
          </p:cNvGraphicFramePr>
          <p:nvPr/>
        </p:nvGraphicFramePr>
        <p:xfrm>
          <a:off x="8498302" y="2929812"/>
          <a:ext cx="2021972" cy="1403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972">
                  <a:extLst>
                    <a:ext uri="{9D8B030D-6E8A-4147-A177-3AD203B41FA5}">
                      <a16:colId xmlns:a16="http://schemas.microsoft.com/office/drawing/2014/main" val="826638770"/>
                    </a:ext>
                  </a:extLst>
                </a:gridCol>
              </a:tblGrid>
              <a:tr h="280946">
                <a:tc>
                  <a:txBody>
                    <a:bodyPr/>
                    <a:lstStyle/>
                    <a:p>
                      <a:pPr algn="l"/>
                      <a:r>
                        <a:rPr lang="nl-NL" sz="1600" b="1" u="none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12385"/>
                  </a:ext>
                </a:extLst>
              </a:tr>
              <a:tr h="1068381">
                <a:tc>
                  <a:txBody>
                    <a:bodyPr/>
                    <a:lstStyle/>
                    <a:p>
                      <a:pPr algn="l"/>
                      <a:r>
                        <a:rPr lang="nl-NL" sz="1600" b="0" u="sng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nl-NL" sz="1600" b="0" u="sng">
                          <a:solidFill>
                            <a:schemeClr val="tx1"/>
                          </a:solidFill>
                        </a:rPr>
                        <a:t>ate</a:t>
                      </a:r>
                      <a:endParaRPr lang="nl-NL" sz="1600" b="0" u="sng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nl-NL" sz="1600" b="0" u="none" dirty="0" err="1">
                          <a:solidFill>
                            <a:schemeClr val="tx1"/>
                          </a:solidFill>
                        </a:rPr>
                        <a:t>month</a:t>
                      </a:r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nl-NL" sz="1600" b="0" u="none" dirty="0" err="1">
                          <a:solidFill>
                            <a:schemeClr val="tx1"/>
                          </a:solidFill>
                        </a:rPr>
                        <a:t>quarter</a:t>
                      </a:r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nl-NL" sz="1600" b="0" u="none" dirty="0" err="1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931455"/>
                  </a:ext>
                </a:extLst>
              </a:tr>
            </a:tbl>
          </a:graphicData>
        </a:graphic>
      </p:graphicFrame>
      <p:sp>
        <p:nvSpPr>
          <p:cNvPr id="30" name="Rechthoek 29">
            <a:extLst>
              <a:ext uri="{FF2B5EF4-FFF2-40B4-BE49-F238E27FC236}">
                <a16:creationId xmlns:a16="http://schemas.microsoft.com/office/drawing/2014/main" id="{BE18B3B5-2633-B3C5-FBA3-3F2B2D30D3CF}"/>
              </a:ext>
            </a:extLst>
          </p:cNvPr>
          <p:cNvSpPr/>
          <p:nvPr/>
        </p:nvSpPr>
        <p:spPr>
          <a:xfrm>
            <a:off x="1455576" y="2677886"/>
            <a:ext cx="1063689" cy="251926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B60BC0B8-876B-07DB-7465-DD118C00EBC2}"/>
              </a:ext>
            </a:extLst>
          </p:cNvPr>
          <p:cNvSpPr/>
          <p:nvPr/>
        </p:nvSpPr>
        <p:spPr>
          <a:xfrm>
            <a:off x="1607976" y="5201264"/>
            <a:ext cx="1573763" cy="258146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181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18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DCCC3-C624-3C91-839D-DE2C9E9543F6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Verticale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samenvoegingen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in ETL-schema’s</a:t>
            </a: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16F47CF1-82F7-0D2E-2164-A8F4F4DFB2FA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hoek 13">
            <a:extLst>
              <a:ext uri="{FF2B5EF4-FFF2-40B4-BE49-F238E27FC236}">
                <a16:creationId xmlns:a16="http://schemas.microsoft.com/office/drawing/2014/main" id="{A5BB38C1-51EE-4923-1D30-0760BE303424}"/>
              </a:ext>
            </a:extLst>
          </p:cNvPr>
          <p:cNvSpPr/>
          <p:nvPr/>
        </p:nvSpPr>
        <p:spPr>
          <a:xfrm>
            <a:off x="3377682" y="1209206"/>
            <a:ext cx="4749282" cy="3635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r>
              <a:rPr lang="nl-NL" dirty="0"/>
              <a:t>	UNION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497D6FB5-0431-486C-A574-08441C35D84B}"/>
              </a:ext>
            </a:extLst>
          </p:cNvPr>
          <p:cNvSpPr txBox="1"/>
          <p:nvPr/>
        </p:nvSpPr>
        <p:spPr>
          <a:xfrm>
            <a:off x="1056153" y="5441124"/>
            <a:ext cx="9680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Uit </a:t>
            </a:r>
            <a:r>
              <a:rPr lang="nl-NL" dirty="0" err="1"/>
              <a:t>order_date</a:t>
            </a:r>
            <a:r>
              <a:rPr lang="nl-NL" dirty="0"/>
              <a:t> en </a:t>
            </a:r>
            <a:r>
              <a:rPr lang="nl-NL" dirty="0" err="1"/>
              <a:t>bonus_date</a:t>
            </a:r>
            <a:r>
              <a:rPr lang="nl-NL" dirty="0"/>
              <a:t> worden met hulpfuncties allemaal datums gevuld. De namen van deze hulpfuncties moeten hierbij gezet worden.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Hier moet je extra duidelijk maken op basis dat de 2 brontabellen verticaal worden samengevoegd (</a:t>
            </a:r>
            <a:r>
              <a:rPr lang="nl-NL" dirty="0" err="1"/>
              <a:t>recap</a:t>
            </a:r>
            <a:r>
              <a:rPr lang="nl-NL" dirty="0"/>
              <a:t>: JOIN -&gt; horizontaal, UNION -&gt; verticaal).</a:t>
            </a:r>
          </a:p>
        </p:txBody>
      </p:sp>
      <p:cxnSp>
        <p:nvCxnSpPr>
          <p:cNvPr id="43" name="Rechte verbindingslijn met pijl 42">
            <a:extLst>
              <a:ext uri="{FF2B5EF4-FFF2-40B4-BE49-F238E27FC236}">
                <a16:creationId xmlns:a16="http://schemas.microsoft.com/office/drawing/2014/main" id="{CDBB8F23-7843-85BF-A968-D0273547202D}"/>
              </a:ext>
            </a:extLst>
          </p:cNvPr>
          <p:cNvCxnSpPr>
            <a:cxnSpLocks/>
          </p:cNvCxnSpPr>
          <p:nvPr/>
        </p:nvCxnSpPr>
        <p:spPr>
          <a:xfrm>
            <a:off x="6011186" y="2138928"/>
            <a:ext cx="3307326" cy="862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hthoek 58">
            <a:extLst>
              <a:ext uri="{FF2B5EF4-FFF2-40B4-BE49-F238E27FC236}">
                <a16:creationId xmlns:a16="http://schemas.microsoft.com/office/drawing/2014/main" id="{A4802469-43C7-D404-6B63-A4A1D94DB58E}"/>
              </a:ext>
            </a:extLst>
          </p:cNvPr>
          <p:cNvSpPr/>
          <p:nvPr/>
        </p:nvSpPr>
        <p:spPr>
          <a:xfrm>
            <a:off x="6007106" y="2054079"/>
            <a:ext cx="3364670" cy="27587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74E65EA-0310-0896-AE50-ACB7B78B5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53" y="1286865"/>
            <a:ext cx="1943268" cy="146316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F4B445E-5566-DDBE-452A-47BFEDFC1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87" y="3353523"/>
            <a:ext cx="1844200" cy="1508891"/>
          </a:xfrm>
          <a:prstGeom prst="rect">
            <a:avLst/>
          </a:prstGeom>
        </p:spPr>
      </p:pic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104E3B68-CA03-004E-94CE-471417EAEAA5}"/>
              </a:ext>
            </a:extLst>
          </p:cNvPr>
          <p:cNvGraphicFramePr>
            <a:graphicFrameLocks noGrp="1"/>
          </p:cNvGraphicFramePr>
          <p:nvPr/>
        </p:nvGraphicFramePr>
        <p:xfrm>
          <a:off x="9322592" y="1794570"/>
          <a:ext cx="202197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972">
                  <a:extLst>
                    <a:ext uri="{9D8B030D-6E8A-4147-A177-3AD203B41FA5}">
                      <a16:colId xmlns:a16="http://schemas.microsoft.com/office/drawing/2014/main" val="826638770"/>
                    </a:ext>
                  </a:extLst>
                </a:gridCol>
              </a:tblGrid>
              <a:tr h="280946">
                <a:tc>
                  <a:txBody>
                    <a:bodyPr/>
                    <a:lstStyle/>
                    <a:p>
                      <a:pPr algn="l"/>
                      <a:r>
                        <a:rPr lang="nl-NL" sz="1600" b="1" u="none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12385"/>
                  </a:ext>
                </a:extLst>
              </a:tr>
              <a:tr h="1068381">
                <a:tc>
                  <a:txBody>
                    <a:bodyPr/>
                    <a:lstStyle/>
                    <a:p>
                      <a:pPr algn="l"/>
                      <a:r>
                        <a:rPr lang="nl-NL" sz="1600" b="0" u="sng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  <a:p>
                      <a:pPr algn="l"/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nl-NL" sz="1600" b="0" u="none" dirty="0" err="1">
                          <a:solidFill>
                            <a:schemeClr val="tx1"/>
                          </a:solidFill>
                        </a:rPr>
                        <a:t>month</a:t>
                      </a:r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nl-NL" sz="1600" b="0" u="none" dirty="0" err="1">
                          <a:solidFill>
                            <a:schemeClr val="tx1"/>
                          </a:solidFill>
                        </a:rPr>
                        <a:t>quarter</a:t>
                      </a:r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nl-NL" sz="1600" b="0" u="none" dirty="0" err="1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nl-NL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931455"/>
                  </a:ext>
                </a:extLst>
              </a:tr>
            </a:tbl>
          </a:graphicData>
        </a:graphic>
      </p:graphicFrame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E45E0787-5930-8FFF-BD04-D8DB2D9409B0}"/>
              </a:ext>
            </a:extLst>
          </p:cNvPr>
          <p:cNvCxnSpPr>
            <a:cxnSpLocks/>
          </p:cNvCxnSpPr>
          <p:nvPr/>
        </p:nvCxnSpPr>
        <p:spPr>
          <a:xfrm>
            <a:off x="2027787" y="2014050"/>
            <a:ext cx="7294805" cy="24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8CA2A14F-E50A-4E6F-2305-EA94193A13DB}"/>
              </a:ext>
            </a:extLst>
          </p:cNvPr>
          <p:cNvCxnSpPr>
            <a:cxnSpLocks/>
          </p:cNvCxnSpPr>
          <p:nvPr/>
        </p:nvCxnSpPr>
        <p:spPr>
          <a:xfrm flipV="1">
            <a:off x="2491273" y="2096842"/>
            <a:ext cx="1654242" cy="2193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EC4F5DF5-D73C-A8DF-24AC-8A1251CCBFC8}"/>
              </a:ext>
            </a:extLst>
          </p:cNvPr>
          <p:cNvCxnSpPr>
            <a:cxnSpLocks/>
          </p:cNvCxnSpPr>
          <p:nvPr/>
        </p:nvCxnSpPr>
        <p:spPr>
          <a:xfrm>
            <a:off x="6015266" y="2138928"/>
            <a:ext cx="3303246" cy="1654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75E6D6BA-259B-5343-164C-76881DE6010F}"/>
              </a:ext>
            </a:extLst>
          </p:cNvPr>
          <p:cNvCxnSpPr>
            <a:cxnSpLocks/>
          </p:cNvCxnSpPr>
          <p:nvPr/>
        </p:nvCxnSpPr>
        <p:spPr>
          <a:xfrm>
            <a:off x="6017306" y="2163675"/>
            <a:ext cx="3303246" cy="2430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kstvak 41">
            <a:extLst>
              <a:ext uri="{FF2B5EF4-FFF2-40B4-BE49-F238E27FC236}">
                <a16:creationId xmlns:a16="http://schemas.microsoft.com/office/drawing/2014/main" id="{E6BD8CAA-A932-26F0-7608-808D7DF95654}"/>
              </a:ext>
            </a:extLst>
          </p:cNvPr>
          <p:cNvSpPr txBox="1"/>
          <p:nvPr/>
        </p:nvSpPr>
        <p:spPr>
          <a:xfrm rot="758367">
            <a:off x="8093818" y="2558765"/>
            <a:ext cx="12578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500" dirty="0" err="1"/>
              <a:t>to_month</a:t>
            </a:r>
            <a:r>
              <a:rPr lang="nl-NL" sz="1500" dirty="0"/>
              <a:t>()</a:t>
            </a:r>
          </a:p>
        </p:txBody>
      </p:sp>
      <p:sp>
        <p:nvSpPr>
          <p:cNvPr id="44" name="Tekstvak 43">
            <a:extLst>
              <a:ext uri="{FF2B5EF4-FFF2-40B4-BE49-F238E27FC236}">
                <a16:creationId xmlns:a16="http://schemas.microsoft.com/office/drawing/2014/main" id="{56A3E7DB-8559-B824-D586-00D2E162710A}"/>
              </a:ext>
            </a:extLst>
          </p:cNvPr>
          <p:cNvSpPr txBox="1"/>
          <p:nvPr/>
        </p:nvSpPr>
        <p:spPr>
          <a:xfrm rot="1706428">
            <a:off x="8215560" y="3217352"/>
            <a:ext cx="12578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500" dirty="0" err="1"/>
              <a:t>to_quarter</a:t>
            </a:r>
            <a:r>
              <a:rPr lang="nl-NL" sz="1500" dirty="0"/>
              <a:t>()</a:t>
            </a:r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B296BFAF-449D-9104-52DB-BCFAC7471000}"/>
              </a:ext>
            </a:extLst>
          </p:cNvPr>
          <p:cNvSpPr txBox="1"/>
          <p:nvPr/>
        </p:nvSpPr>
        <p:spPr>
          <a:xfrm rot="2219448">
            <a:off x="8215560" y="3940235"/>
            <a:ext cx="12578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500" dirty="0" err="1"/>
              <a:t>to_year</a:t>
            </a:r>
            <a:r>
              <a:rPr lang="nl-NL" sz="1500" dirty="0"/>
              <a:t>()</a:t>
            </a:r>
          </a:p>
        </p:txBody>
      </p:sp>
      <p:sp>
        <p:nvSpPr>
          <p:cNvPr id="46" name="Rechthoek 45">
            <a:extLst>
              <a:ext uri="{FF2B5EF4-FFF2-40B4-BE49-F238E27FC236}">
                <a16:creationId xmlns:a16="http://schemas.microsoft.com/office/drawing/2014/main" id="{F82CF080-E52E-85D7-1240-F37306895B19}"/>
              </a:ext>
            </a:extLst>
          </p:cNvPr>
          <p:cNvSpPr/>
          <p:nvPr/>
        </p:nvSpPr>
        <p:spPr>
          <a:xfrm>
            <a:off x="4293419" y="4263417"/>
            <a:ext cx="895740" cy="5494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69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F69D-27E3-EC2E-D42F-2F6CA719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9501B-15B3-AC1B-55FD-0EE841BC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5B031F-0372-3920-3F52-F58D84E5D38D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5528EC8B-E817-EC12-0106-624E44645FE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ECBDAAB6-7E0D-1A2C-6B46-5158AE5B6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79303F-FF17-4539-9F2C-9C1625E25FD8}"/>
              </a:ext>
            </a:extLst>
          </p:cNvPr>
          <p:cNvSpPr txBox="1"/>
          <p:nvPr/>
        </p:nvSpPr>
        <p:spPr>
          <a:xfrm>
            <a:off x="2795291" y="1506666"/>
            <a:ext cx="3127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Wanneer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horizontaal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verticaal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samenvoegen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B1907-0F04-A43D-411C-18BAB0685D39}"/>
              </a:ext>
            </a:extLst>
          </p:cNvPr>
          <p:cNvSpPr txBox="1"/>
          <p:nvPr/>
        </p:nvSpPr>
        <p:spPr>
          <a:xfrm>
            <a:off x="3576418" y="683609"/>
            <a:ext cx="187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F54129-3E7F-ED08-E8EB-C2CF4E520FD2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A0B783-4D5D-C7FC-47F7-10E7B158E5EF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CCF76787-CB54-2717-9BA8-146D2CC27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716" y="3303337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1366F6-B2BA-B4D5-B36A-3DDED6D1FA9B}"/>
              </a:ext>
            </a:extLst>
          </p:cNvPr>
          <p:cNvSpPr txBox="1"/>
          <p:nvPr/>
        </p:nvSpPr>
        <p:spPr>
          <a:xfrm>
            <a:off x="7263744" y="1463320"/>
            <a:ext cx="309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aanbrengen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invullen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Sterschema’s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06442D-A47E-B92C-7B43-5F8F975DC7B1}"/>
              </a:ext>
            </a:extLst>
          </p:cNvPr>
          <p:cNvSpPr txBox="1"/>
          <p:nvPr/>
        </p:nvSpPr>
        <p:spPr>
          <a:xfrm>
            <a:off x="1302379" y="3739002"/>
            <a:ext cx="3844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afgeleide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meetwaarden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je Datawarehouse-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ontwerp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modelleert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41D65DEC-D037-28C9-3476-E219DA065650}"/>
              </a:ext>
            </a:extLst>
          </p:cNvPr>
          <p:cNvSpPr txBox="1"/>
          <p:nvPr/>
        </p:nvSpPr>
        <p:spPr>
          <a:xfrm>
            <a:off x="7263744" y="5660257"/>
            <a:ext cx="309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Benodigde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dataflows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tussen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SDM’s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en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DWH’s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inzichtelijk maken in ETL-schema’s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AD21E4C-59A8-AB09-0B99-1E2B8263E55F}"/>
              </a:ext>
            </a:extLst>
          </p:cNvPr>
          <p:cNvSpPr txBox="1"/>
          <p:nvPr/>
        </p:nvSpPr>
        <p:spPr>
          <a:xfrm>
            <a:off x="3255649" y="5851225"/>
            <a:ext cx="2777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onderdelen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ETL-schema’s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bestaan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9FFC0-51B1-5875-48BE-80249166CC30}"/>
              </a:ext>
            </a:extLst>
          </p:cNvPr>
          <p:cNvSpPr txBox="1"/>
          <p:nvPr/>
        </p:nvSpPr>
        <p:spPr>
          <a:xfrm>
            <a:off x="7870830" y="2702992"/>
            <a:ext cx="3091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feittabellen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aanbrengen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invullen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Sterschema’s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inclusief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verbinding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C36C42-FA4E-7FE4-DEF8-3EF1EE32FE46}"/>
              </a:ext>
            </a:extLst>
          </p:cNvPr>
          <p:cNvSpPr txBox="1"/>
          <p:nvPr/>
        </p:nvSpPr>
        <p:spPr>
          <a:xfrm>
            <a:off x="1691857" y="2594030"/>
            <a:ext cx="3454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meetwaarde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-transport”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uitvoeren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om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feittabellen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vullen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20DF016C-9410-97DC-A6C4-01E16C6C057B}"/>
              </a:ext>
            </a:extLst>
          </p:cNvPr>
          <p:cNvSpPr txBox="1"/>
          <p:nvPr/>
        </p:nvSpPr>
        <p:spPr>
          <a:xfrm>
            <a:off x="1994445" y="5290925"/>
            <a:ext cx="345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granulariteitsverschillen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1F500-68BF-71B9-BDAB-B3C8C8AC94DC}"/>
              </a:ext>
            </a:extLst>
          </p:cNvPr>
          <p:cNvSpPr txBox="1"/>
          <p:nvPr/>
        </p:nvSpPr>
        <p:spPr>
          <a:xfrm>
            <a:off x="7798397" y="4311336"/>
            <a:ext cx="3091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2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manieren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ranulariteitsverschillen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afhandelen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1005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A2A505CF-29A5-4FA3-9E2E-509EBC2910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EF9DFD-C9BC-403D-9373-66F1B03A2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EBCDBB-E4E3-4523-9380-0D25C9F15902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32f5a426-4411-422f-b9c8-9b9c919dd02d"/>
    <ds:schemaRef ds:uri="http://purl.org/dc/dcmitype/"/>
    <ds:schemaRef ds:uri="http://www.w3.org/XML/1998/namespace"/>
    <ds:schemaRef ds:uri="http://schemas.openxmlformats.org/package/2006/metadata/core-properties"/>
    <ds:schemaRef ds:uri="d11bdb94-d558-4ffe-a4b0-092cbde21480"/>
    <ds:schemaRef ds:uri="597a471e-0b75-4fc5-bc4a-75c43d0a6ad2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2586b9b-f867-4b3c-9363-5b435c5dbc45}" enabled="0" method="" siteId="{a2586b9b-f867-4b3c-9363-5b435c5dbc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4695</TotalTime>
  <Words>1361</Words>
  <Application>Microsoft Office PowerPoint</Application>
  <PresentationFormat>Widescreen</PresentationFormat>
  <Paragraphs>237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van Barneveld</dc:creator>
  <cp:lastModifiedBy>Jelle van Barneveld</cp:lastModifiedBy>
  <cp:revision>2</cp:revision>
  <dcterms:created xsi:type="dcterms:W3CDTF">2025-06-10T10:44:22Z</dcterms:created>
  <dcterms:modified xsi:type="dcterms:W3CDTF">2026-03-12T10:49:39Z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